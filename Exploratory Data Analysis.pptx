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" charset="1" panose="020F0502020204030204"/>
      <p:regular r:id="rId26"/>
    </p:embeddedFont>
    <p:embeddedFont>
      <p:font typeface="Arimo Bold" charset="1" panose="020B0704020202020204"/>
      <p:regular r:id="rId27"/>
    </p:embeddedFont>
    <p:embeddedFont>
      <p:font typeface="Arimo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png" Type="http://schemas.openxmlformats.org/officeDocument/2006/relationships/image"/><Relationship Id="rId15" Target="../media/image63.png" Type="http://schemas.openxmlformats.org/officeDocument/2006/relationships/image"/><Relationship Id="rId16" Target="../media/image64.png" Type="http://schemas.openxmlformats.org/officeDocument/2006/relationships/image"/><Relationship Id="rId17" Target="../media/image65.png" Type="http://schemas.openxmlformats.org/officeDocument/2006/relationships/image"/><Relationship Id="rId18" Target="../media/image66.png" Type="http://schemas.openxmlformats.org/officeDocument/2006/relationships/image"/><Relationship Id="rId19" Target="../media/image67.png" Type="http://schemas.openxmlformats.org/officeDocument/2006/relationships/image"/><Relationship Id="rId2" Target="../media/image1.png" Type="http://schemas.openxmlformats.org/officeDocument/2006/relationships/image"/><Relationship Id="rId20" Target="../media/image68.png" Type="http://schemas.openxmlformats.org/officeDocument/2006/relationships/image"/><Relationship Id="rId21" Target="../media/image6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12" Target="../media/image76.png" Type="http://schemas.openxmlformats.org/officeDocument/2006/relationships/image"/><Relationship Id="rId13" Target="../media/image77.png" Type="http://schemas.openxmlformats.org/officeDocument/2006/relationships/image"/><Relationship Id="rId14" Target="../media/image78.png" Type="http://schemas.openxmlformats.org/officeDocument/2006/relationships/image"/><Relationship Id="rId15" Target="../media/image79.png" Type="http://schemas.openxmlformats.org/officeDocument/2006/relationships/image"/><Relationship Id="rId16" Target="../media/image80.png" Type="http://schemas.openxmlformats.org/officeDocument/2006/relationships/image"/><Relationship Id="rId17" Target="../media/image8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png" Type="http://schemas.openxmlformats.org/officeDocument/2006/relationships/image"/><Relationship Id="rId12" Target="../media/image88.png" Type="http://schemas.openxmlformats.org/officeDocument/2006/relationships/image"/><Relationship Id="rId13" Target="../media/image89.png" Type="http://schemas.openxmlformats.org/officeDocument/2006/relationships/image"/><Relationship Id="rId14" Target="../media/image90.png" Type="http://schemas.openxmlformats.org/officeDocument/2006/relationships/image"/><Relationship Id="rId15" Target="../media/image91.png" Type="http://schemas.openxmlformats.org/officeDocument/2006/relationships/image"/><Relationship Id="rId16" Target="../media/image92.png" Type="http://schemas.openxmlformats.org/officeDocument/2006/relationships/image"/><Relationship Id="rId17" Target="../media/image93.png" Type="http://schemas.openxmlformats.org/officeDocument/2006/relationships/image"/><Relationship Id="rId18" Target="../media/image94.png" Type="http://schemas.openxmlformats.org/officeDocument/2006/relationships/image"/><Relationship Id="rId19" Target="../media/image95.png" Type="http://schemas.openxmlformats.org/officeDocument/2006/relationships/image"/><Relationship Id="rId2" Target="../media/image1.png" Type="http://schemas.openxmlformats.org/officeDocument/2006/relationships/image"/><Relationship Id="rId20" Target="../media/image96.png" Type="http://schemas.openxmlformats.org/officeDocument/2006/relationships/image"/><Relationship Id="rId21" Target="../media/image97.png" Type="http://schemas.openxmlformats.org/officeDocument/2006/relationships/image"/><Relationship Id="rId22" Target="../media/image98.png" Type="http://schemas.openxmlformats.org/officeDocument/2006/relationships/image"/><Relationship Id="rId23" Target="../media/image99.png" Type="http://schemas.openxmlformats.org/officeDocument/2006/relationships/image"/><Relationship Id="rId24" Target="../media/image100.png" Type="http://schemas.openxmlformats.org/officeDocument/2006/relationships/image"/><Relationship Id="rId25" Target="../media/image101.png" Type="http://schemas.openxmlformats.org/officeDocument/2006/relationships/image"/><Relationship Id="rId26" Target="../media/image102.png" Type="http://schemas.openxmlformats.org/officeDocument/2006/relationships/image"/><Relationship Id="rId27" Target="../media/image103.png" Type="http://schemas.openxmlformats.org/officeDocument/2006/relationships/image"/><Relationship Id="rId28" Target="../media/image104.png" Type="http://schemas.openxmlformats.org/officeDocument/2006/relationships/image"/><Relationship Id="rId29" Target="../media/image105.png" Type="http://schemas.openxmlformats.org/officeDocument/2006/relationships/image"/><Relationship Id="rId3" Target="../media/image2.png" Type="http://schemas.openxmlformats.org/officeDocument/2006/relationships/image"/><Relationship Id="rId30" Target="../media/image106.png" Type="http://schemas.openxmlformats.org/officeDocument/2006/relationships/image"/><Relationship Id="rId31" Target="../media/image107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png" Type="http://schemas.openxmlformats.org/officeDocument/2006/relationships/image"/><Relationship Id="rId12" Target="../media/image114.png" Type="http://schemas.openxmlformats.org/officeDocument/2006/relationships/image"/><Relationship Id="rId13" Target="../media/image115.png" Type="http://schemas.openxmlformats.org/officeDocument/2006/relationships/image"/><Relationship Id="rId14" Target="../media/image116.png" Type="http://schemas.openxmlformats.org/officeDocument/2006/relationships/image"/><Relationship Id="rId15" Target="../media/image117.png" Type="http://schemas.openxmlformats.org/officeDocument/2006/relationships/image"/><Relationship Id="rId16" Target="../media/image11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Relationship Id="rId8" Target="../media/image110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png" Type="http://schemas.openxmlformats.org/officeDocument/2006/relationships/image"/><Relationship Id="rId11" Target="../media/image123.png" Type="http://schemas.openxmlformats.org/officeDocument/2006/relationships/image"/><Relationship Id="rId12" Target="../media/image124.png" Type="http://schemas.openxmlformats.org/officeDocument/2006/relationships/image"/><Relationship Id="rId13" Target="../media/image125.png" Type="http://schemas.openxmlformats.org/officeDocument/2006/relationships/image"/><Relationship Id="rId14" Target="../media/image126.png" Type="http://schemas.openxmlformats.org/officeDocument/2006/relationships/image"/><Relationship Id="rId15" Target="../media/image127.png" Type="http://schemas.openxmlformats.org/officeDocument/2006/relationships/image"/><Relationship Id="rId16" Target="../media/image12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19.png" Type="http://schemas.openxmlformats.org/officeDocument/2006/relationships/image"/><Relationship Id="rId7" Target="../media/image55.png" Type="http://schemas.openxmlformats.org/officeDocument/2006/relationships/image"/><Relationship Id="rId8" Target="../media/image120.png" Type="http://schemas.openxmlformats.org/officeDocument/2006/relationships/image"/><Relationship Id="rId9" Target="../media/image1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png" Type="http://schemas.openxmlformats.org/officeDocument/2006/relationships/image"/><Relationship Id="rId12" Target="../media/image135.png" Type="http://schemas.openxmlformats.org/officeDocument/2006/relationships/image"/><Relationship Id="rId13" Target="../media/image136.png" Type="http://schemas.openxmlformats.org/officeDocument/2006/relationships/image"/><Relationship Id="rId14" Target="../media/image137.png" Type="http://schemas.openxmlformats.org/officeDocument/2006/relationships/image"/><Relationship Id="rId15" Target="../media/image138.png" Type="http://schemas.openxmlformats.org/officeDocument/2006/relationships/image"/><Relationship Id="rId16" Target="../media/image139.png" Type="http://schemas.openxmlformats.org/officeDocument/2006/relationships/image"/><Relationship Id="rId17" Target="../media/image140.png" Type="http://schemas.openxmlformats.org/officeDocument/2006/relationships/image"/><Relationship Id="rId18" Target="../media/image141.png" Type="http://schemas.openxmlformats.org/officeDocument/2006/relationships/image"/><Relationship Id="rId19" Target="../media/image142.png" Type="http://schemas.openxmlformats.org/officeDocument/2006/relationships/image"/><Relationship Id="rId2" Target="../media/image1.png" Type="http://schemas.openxmlformats.org/officeDocument/2006/relationships/image"/><Relationship Id="rId20" Target="../media/image143.png" Type="http://schemas.openxmlformats.org/officeDocument/2006/relationships/image"/><Relationship Id="rId21" Target="../media/image14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05.png" Type="http://schemas.openxmlformats.org/officeDocument/2006/relationships/image"/><Relationship Id="rId12" Target="../media/image150.png" Type="http://schemas.openxmlformats.org/officeDocument/2006/relationships/image"/><Relationship Id="rId13" Target="../media/image151.png" Type="http://schemas.openxmlformats.org/officeDocument/2006/relationships/image"/><Relationship Id="rId14" Target="../media/image152.png" Type="http://schemas.openxmlformats.org/officeDocument/2006/relationships/image"/><Relationship Id="rId15" Target="../media/image153.png" Type="http://schemas.openxmlformats.org/officeDocument/2006/relationships/image"/><Relationship Id="rId16" Target="../media/image154.png" Type="http://schemas.openxmlformats.org/officeDocument/2006/relationships/image"/><Relationship Id="rId17" Target="../media/image155.png" Type="http://schemas.openxmlformats.org/officeDocument/2006/relationships/image"/><Relationship Id="rId18" Target="../media/image156.png" Type="http://schemas.openxmlformats.org/officeDocument/2006/relationships/image"/><Relationship Id="rId19" Target="../media/image157.png" Type="http://schemas.openxmlformats.org/officeDocument/2006/relationships/image"/><Relationship Id="rId2" Target="../media/image1.png" Type="http://schemas.openxmlformats.org/officeDocument/2006/relationships/image"/><Relationship Id="rId20" Target="../media/image158.png" Type="http://schemas.openxmlformats.org/officeDocument/2006/relationships/image"/><Relationship Id="rId21" Target="../media/image159.png" Type="http://schemas.openxmlformats.org/officeDocument/2006/relationships/image"/><Relationship Id="rId22" Target="../media/image160.png" Type="http://schemas.openxmlformats.org/officeDocument/2006/relationships/image"/><Relationship Id="rId23" Target="../media/image161.png" Type="http://schemas.openxmlformats.org/officeDocument/2006/relationships/image"/><Relationship Id="rId24" Target="../media/image162.png" Type="http://schemas.openxmlformats.org/officeDocument/2006/relationships/image"/><Relationship Id="rId25" Target="../media/image163.png" Type="http://schemas.openxmlformats.org/officeDocument/2006/relationships/image"/><Relationship Id="rId26" Target="../media/image16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45.png" Type="http://schemas.openxmlformats.org/officeDocument/2006/relationships/image"/><Relationship Id="rId7" Target="../media/image146.png" Type="http://schemas.openxmlformats.org/officeDocument/2006/relationships/image"/><Relationship Id="rId8" Target="../media/image147.pn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8.png" Type="http://schemas.openxmlformats.org/officeDocument/2006/relationships/image"/><Relationship Id="rId11" Target="../media/image169.png" Type="http://schemas.openxmlformats.org/officeDocument/2006/relationships/image"/><Relationship Id="rId12" Target="../media/image170.png" Type="http://schemas.openxmlformats.org/officeDocument/2006/relationships/image"/><Relationship Id="rId13" Target="../media/image105.png" Type="http://schemas.openxmlformats.org/officeDocument/2006/relationships/image"/><Relationship Id="rId14" Target="../media/image171.png" Type="http://schemas.openxmlformats.org/officeDocument/2006/relationships/image"/><Relationship Id="rId15" Target="../media/image172.png" Type="http://schemas.openxmlformats.org/officeDocument/2006/relationships/image"/><Relationship Id="rId16" Target="../media/image173.png" Type="http://schemas.openxmlformats.org/officeDocument/2006/relationships/image"/><Relationship Id="rId17" Target="../media/image155.png" Type="http://schemas.openxmlformats.org/officeDocument/2006/relationships/image"/><Relationship Id="rId18" Target="../media/image174.png" Type="http://schemas.openxmlformats.org/officeDocument/2006/relationships/image"/><Relationship Id="rId19" Target="../media/image175.png" Type="http://schemas.openxmlformats.org/officeDocument/2006/relationships/image"/><Relationship Id="rId2" Target="../media/image1.png" Type="http://schemas.openxmlformats.org/officeDocument/2006/relationships/image"/><Relationship Id="rId20" Target="../media/image176.png" Type="http://schemas.openxmlformats.org/officeDocument/2006/relationships/image"/><Relationship Id="rId21" Target="../media/image177.png" Type="http://schemas.openxmlformats.org/officeDocument/2006/relationships/image"/><Relationship Id="rId22" Target="../media/image178.png" Type="http://schemas.openxmlformats.org/officeDocument/2006/relationships/image"/><Relationship Id="rId23" Target="../media/image179.png" Type="http://schemas.openxmlformats.org/officeDocument/2006/relationships/image"/><Relationship Id="rId24" Target="../media/image180.png" Type="http://schemas.openxmlformats.org/officeDocument/2006/relationships/image"/><Relationship Id="rId25" Target="../media/image152.png" Type="http://schemas.openxmlformats.org/officeDocument/2006/relationships/image"/><Relationship Id="rId26" Target="../media/image181.png" Type="http://schemas.openxmlformats.org/officeDocument/2006/relationships/image"/><Relationship Id="rId27" Target="../media/image182.png" Type="http://schemas.openxmlformats.org/officeDocument/2006/relationships/image"/><Relationship Id="rId28" Target="../media/image183.png" Type="http://schemas.openxmlformats.org/officeDocument/2006/relationships/image"/><Relationship Id="rId29" Target="../media/image18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65.png" Type="http://schemas.openxmlformats.org/officeDocument/2006/relationships/image"/><Relationship Id="rId7" Target="../media/image166.png" Type="http://schemas.openxmlformats.org/officeDocument/2006/relationships/image"/><Relationship Id="rId8" Target="../media/image167.png" Type="http://schemas.openxmlformats.org/officeDocument/2006/relationships/image"/><Relationship Id="rId9" Target="../media/image14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9.png" Type="http://schemas.openxmlformats.org/officeDocument/2006/relationships/image"/><Relationship Id="rId11" Target="../media/image190.png" Type="http://schemas.openxmlformats.org/officeDocument/2006/relationships/image"/><Relationship Id="rId12" Target="../media/image191.png" Type="http://schemas.openxmlformats.org/officeDocument/2006/relationships/image"/><Relationship Id="rId13" Target="../media/image192.png" Type="http://schemas.openxmlformats.org/officeDocument/2006/relationships/image"/><Relationship Id="rId14" Target="../media/image193.png" Type="http://schemas.openxmlformats.org/officeDocument/2006/relationships/image"/><Relationship Id="rId15" Target="../media/image194.png" Type="http://schemas.openxmlformats.org/officeDocument/2006/relationships/image"/><Relationship Id="rId16" Target="../media/image195.png" Type="http://schemas.openxmlformats.org/officeDocument/2006/relationships/image"/><Relationship Id="rId17" Target="../media/image196.png" Type="http://schemas.openxmlformats.org/officeDocument/2006/relationships/image"/><Relationship Id="rId18" Target="../media/image197.png" Type="http://schemas.openxmlformats.org/officeDocument/2006/relationships/image"/><Relationship Id="rId19" Target="../media/image198.png" Type="http://schemas.openxmlformats.org/officeDocument/2006/relationships/image"/><Relationship Id="rId2" Target="../media/image1.png" Type="http://schemas.openxmlformats.org/officeDocument/2006/relationships/image"/><Relationship Id="rId20" Target="../media/image199.png" Type="http://schemas.openxmlformats.org/officeDocument/2006/relationships/image"/><Relationship Id="rId21" Target="../media/image200.png" Type="http://schemas.openxmlformats.org/officeDocument/2006/relationships/image"/><Relationship Id="rId22" Target="../media/image201.png" Type="http://schemas.openxmlformats.org/officeDocument/2006/relationships/image"/><Relationship Id="rId23" Target="../media/image202.png" Type="http://schemas.openxmlformats.org/officeDocument/2006/relationships/image"/><Relationship Id="rId24" Target="../media/image203.png" Type="http://schemas.openxmlformats.org/officeDocument/2006/relationships/image"/><Relationship Id="rId25" Target="../media/image204.png" Type="http://schemas.openxmlformats.org/officeDocument/2006/relationships/image"/><Relationship Id="rId26" Target="../media/image205.png" Type="http://schemas.openxmlformats.org/officeDocument/2006/relationships/image"/><Relationship Id="rId27" Target="../media/image206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5.png" Type="http://schemas.openxmlformats.org/officeDocument/2006/relationships/image"/><Relationship Id="rId7" Target="../media/image186.png" Type="http://schemas.openxmlformats.org/officeDocument/2006/relationships/image"/><Relationship Id="rId8" Target="../media/image187.png" Type="http://schemas.openxmlformats.org/officeDocument/2006/relationships/image"/><Relationship Id="rId9" Target="../media/image18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1.png" Type="http://schemas.openxmlformats.org/officeDocument/2006/relationships/image"/><Relationship Id="rId11" Target="../media/image212.png" Type="http://schemas.openxmlformats.org/officeDocument/2006/relationships/image"/><Relationship Id="rId12" Target="../media/image213.png" Type="http://schemas.openxmlformats.org/officeDocument/2006/relationships/image"/><Relationship Id="rId13" Target="../media/image214.png" Type="http://schemas.openxmlformats.org/officeDocument/2006/relationships/image"/><Relationship Id="rId14" Target="../media/image215.png" Type="http://schemas.openxmlformats.org/officeDocument/2006/relationships/image"/><Relationship Id="rId15" Target="../media/image216.png" Type="http://schemas.openxmlformats.org/officeDocument/2006/relationships/image"/><Relationship Id="rId16" Target="../media/image217.png" Type="http://schemas.openxmlformats.org/officeDocument/2006/relationships/image"/><Relationship Id="rId17" Target="../media/image218.png" Type="http://schemas.openxmlformats.org/officeDocument/2006/relationships/image"/><Relationship Id="rId18" Target="../media/image219.png" Type="http://schemas.openxmlformats.org/officeDocument/2006/relationships/image"/><Relationship Id="rId19" Target="../media/image220.png" Type="http://schemas.openxmlformats.org/officeDocument/2006/relationships/image"/><Relationship Id="rId2" Target="../media/image1.png" Type="http://schemas.openxmlformats.org/officeDocument/2006/relationships/image"/><Relationship Id="rId20" Target="../media/image221.png" Type="http://schemas.openxmlformats.org/officeDocument/2006/relationships/image"/><Relationship Id="rId21" Target="../media/image222.png" Type="http://schemas.openxmlformats.org/officeDocument/2006/relationships/image"/><Relationship Id="rId22" Target="../media/image223.png" Type="http://schemas.openxmlformats.org/officeDocument/2006/relationships/image"/><Relationship Id="rId23" Target="../media/image224.png" Type="http://schemas.openxmlformats.org/officeDocument/2006/relationships/image"/><Relationship Id="rId24" Target="../media/image225.png" Type="http://schemas.openxmlformats.org/officeDocument/2006/relationships/image"/><Relationship Id="rId25" Target="../media/image226.png" Type="http://schemas.openxmlformats.org/officeDocument/2006/relationships/image"/><Relationship Id="rId26" Target="../media/image227.png" Type="http://schemas.openxmlformats.org/officeDocument/2006/relationships/image"/><Relationship Id="rId27" Target="../media/image228.png" Type="http://schemas.openxmlformats.org/officeDocument/2006/relationships/image"/><Relationship Id="rId28" Target="../media/image229.png" Type="http://schemas.openxmlformats.org/officeDocument/2006/relationships/image"/><Relationship Id="rId29" Target="../media/image230.png" Type="http://schemas.openxmlformats.org/officeDocument/2006/relationships/image"/><Relationship Id="rId3" Target="../media/image2.png" Type="http://schemas.openxmlformats.org/officeDocument/2006/relationships/image"/><Relationship Id="rId30" Target="../media/image231.png" Type="http://schemas.openxmlformats.org/officeDocument/2006/relationships/image"/><Relationship Id="rId31" Target="../media/image232.png" Type="http://schemas.openxmlformats.org/officeDocument/2006/relationships/image"/><Relationship Id="rId32" Target="../media/image233.png" Type="http://schemas.openxmlformats.org/officeDocument/2006/relationships/image"/><Relationship Id="rId33" Target="../media/image234.png" Type="http://schemas.openxmlformats.org/officeDocument/2006/relationships/image"/><Relationship Id="rId34" Target="../media/image235.png" Type="http://schemas.openxmlformats.org/officeDocument/2006/relationships/image"/><Relationship Id="rId35" Target="../media/image236.png" Type="http://schemas.openxmlformats.org/officeDocument/2006/relationships/image"/><Relationship Id="rId36" Target="../media/image237.png" Type="http://schemas.openxmlformats.org/officeDocument/2006/relationships/image"/><Relationship Id="rId37" Target="../media/image238.png" Type="http://schemas.openxmlformats.org/officeDocument/2006/relationships/image"/><Relationship Id="rId38" Target="../media/image239.png" Type="http://schemas.openxmlformats.org/officeDocument/2006/relationships/image"/><Relationship Id="rId39" Target="../media/image240.png" Type="http://schemas.openxmlformats.org/officeDocument/2006/relationships/image"/><Relationship Id="rId4" Target="../media/image3.png" Type="http://schemas.openxmlformats.org/officeDocument/2006/relationships/image"/><Relationship Id="rId40" Target="../media/image241.png" Type="http://schemas.openxmlformats.org/officeDocument/2006/relationships/image"/><Relationship Id="rId41" Target="../media/image242.png" Type="http://schemas.openxmlformats.org/officeDocument/2006/relationships/image"/><Relationship Id="rId42" Target="../media/image243.png" Type="http://schemas.openxmlformats.org/officeDocument/2006/relationships/image"/><Relationship Id="rId43" Target="../media/image244.png" Type="http://schemas.openxmlformats.org/officeDocument/2006/relationships/image"/><Relationship Id="rId5" Target="../media/image4.png" Type="http://schemas.openxmlformats.org/officeDocument/2006/relationships/image"/><Relationship Id="rId6" Target="../media/image207.png" Type="http://schemas.openxmlformats.org/officeDocument/2006/relationships/image"/><Relationship Id="rId7" Target="../media/image208.png" Type="http://schemas.openxmlformats.org/officeDocument/2006/relationships/image"/><Relationship Id="rId8" Target="../media/image209.png" Type="http://schemas.openxmlformats.org/officeDocument/2006/relationships/image"/><Relationship Id="rId9" Target="../media/image2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8.png" Type="http://schemas.openxmlformats.org/officeDocument/2006/relationships/image"/><Relationship Id="rId11" Target="../media/image249.png" Type="http://schemas.openxmlformats.org/officeDocument/2006/relationships/image"/><Relationship Id="rId12" Target="../media/image250.png" Type="http://schemas.openxmlformats.org/officeDocument/2006/relationships/image"/><Relationship Id="rId13" Target="../media/image251.png" Type="http://schemas.openxmlformats.org/officeDocument/2006/relationships/image"/><Relationship Id="rId14" Target="../media/image252.png" Type="http://schemas.openxmlformats.org/officeDocument/2006/relationships/image"/><Relationship Id="rId15" Target="../media/image100.png" Type="http://schemas.openxmlformats.org/officeDocument/2006/relationships/image"/><Relationship Id="rId16" Target="../media/image253.png" Type="http://schemas.openxmlformats.org/officeDocument/2006/relationships/image"/><Relationship Id="rId17" Target="../media/image254.png" Type="http://schemas.openxmlformats.org/officeDocument/2006/relationships/image"/><Relationship Id="rId18" Target="../media/image255.png" Type="http://schemas.openxmlformats.org/officeDocument/2006/relationships/image"/><Relationship Id="rId19" Target="../media/image256.png" Type="http://schemas.openxmlformats.org/officeDocument/2006/relationships/image"/><Relationship Id="rId2" Target="../media/image1.png" Type="http://schemas.openxmlformats.org/officeDocument/2006/relationships/image"/><Relationship Id="rId20" Target="../media/image25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45.png" Type="http://schemas.openxmlformats.org/officeDocument/2006/relationships/image"/><Relationship Id="rId7" Target="../media/image246.png" Type="http://schemas.openxmlformats.org/officeDocument/2006/relationships/image"/><Relationship Id="rId8" Target="../media/image97.png" Type="http://schemas.openxmlformats.org/officeDocument/2006/relationships/image"/><Relationship Id="rId9" Target="../media/image24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2.png" Type="http://schemas.openxmlformats.org/officeDocument/2006/relationships/image"/><Relationship Id="rId11" Target="../media/image263.png" Type="http://schemas.openxmlformats.org/officeDocument/2006/relationships/image"/><Relationship Id="rId12" Target="../media/image264.png" Type="http://schemas.openxmlformats.org/officeDocument/2006/relationships/image"/><Relationship Id="rId13" Target="../media/image265.png" Type="http://schemas.openxmlformats.org/officeDocument/2006/relationships/image"/><Relationship Id="rId14" Target="../media/image266.png" Type="http://schemas.openxmlformats.org/officeDocument/2006/relationships/image"/><Relationship Id="rId15" Target="../media/image267.png" Type="http://schemas.openxmlformats.org/officeDocument/2006/relationships/image"/><Relationship Id="rId16" Target="../media/image268.png" Type="http://schemas.openxmlformats.org/officeDocument/2006/relationships/image"/><Relationship Id="rId17" Target="../media/image269.png" Type="http://schemas.openxmlformats.org/officeDocument/2006/relationships/image"/><Relationship Id="rId18" Target="../media/image27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58.png" Type="http://schemas.openxmlformats.org/officeDocument/2006/relationships/image"/><Relationship Id="rId7" Target="../media/image259.png" Type="http://schemas.openxmlformats.org/officeDocument/2006/relationships/image"/><Relationship Id="rId8" Target="../media/image260.png" Type="http://schemas.openxmlformats.org/officeDocument/2006/relationships/image"/><Relationship Id="rId9" Target="../media/image26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5.png" Type="http://schemas.openxmlformats.org/officeDocument/2006/relationships/image"/><Relationship Id="rId11" Target="../media/image276.png" Type="http://schemas.openxmlformats.org/officeDocument/2006/relationships/image"/><Relationship Id="rId12" Target="../media/image277.png" Type="http://schemas.openxmlformats.org/officeDocument/2006/relationships/image"/><Relationship Id="rId13" Target="../media/image278.png" Type="http://schemas.openxmlformats.org/officeDocument/2006/relationships/image"/><Relationship Id="rId14" Target="../media/image279.png" Type="http://schemas.openxmlformats.org/officeDocument/2006/relationships/image"/><Relationship Id="rId15" Target="../media/image280.png" Type="http://schemas.openxmlformats.org/officeDocument/2006/relationships/image"/><Relationship Id="rId16" Target="../media/image281.png" Type="http://schemas.openxmlformats.org/officeDocument/2006/relationships/image"/><Relationship Id="rId17" Target="../media/image282.png" Type="http://schemas.openxmlformats.org/officeDocument/2006/relationships/image"/><Relationship Id="rId18" Target="../media/image283.png" Type="http://schemas.openxmlformats.org/officeDocument/2006/relationships/image"/><Relationship Id="rId19" Target="../media/image10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71.png" Type="http://schemas.openxmlformats.org/officeDocument/2006/relationships/image"/><Relationship Id="rId7" Target="../media/image272.png" Type="http://schemas.openxmlformats.org/officeDocument/2006/relationships/image"/><Relationship Id="rId8" Target="../media/image273.png" Type="http://schemas.openxmlformats.org/officeDocument/2006/relationships/image"/><Relationship Id="rId9" Target="../media/image27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8.png" Type="http://schemas.openxmlformats.org/officeDocument/2006/relationships/image"/><Relationship Id="rId11" Target="../media/image289.png" Type="http://schemas.openxmlformats.org/officeDocument/2006/relationships/image"/><Relationship Id="rId12" Target="../media/image290.png" Type="http://schemas.openxmlformats.org/officeDocument/2006/relationships/image"/><Relationship Id="rId13" Target="../media/image291.png" Type="http://schemas.openxmlformats.org/officeDocument/2006/relationships/image"/><Relationship Id="rId14" Target="../media/image292.png" Type="http://schemas.openxmlformats.org/officeDocument/2006/relationships/image"/><Relationship Id="rId15" Target="../media/image293.png" Type="http://schemas.openxmlformats.org/officeDocument/2006/relationships/image"/><Relationship Id="rId16" Target="../media/image294.png" Type="http://schemas.openxmlformats.org/officeDocument/2006/relationships/image"/><Relationship Id="rId17" Target="../media/image295.png" Type="http://schemas.openxmlformats.org/officeDocument/2006/relationships/image"/><Relationship Id="rId18" Target="../media/image296.png" Type="http://schemas.openxmlformats.org/officeDocument/2006/relationships/image"/><Relationship Id="rId19" Target="../media/image297.png" Type="http://schemas.openxmlformats.org/officeDocument/2006/relationships/image"/><Relationship Id="rId2" Target="../media/image1.png" Type="http://schemas.openxmlformats.org/officeDocument/2006/relationships/image"/><Relationship Id="rId20" Target="../media/image298.png" Type="http://schemas.openxmlformats.org/officeDocument/2006/relationships/image"/><Relationship Id="rId21" Target="../media/image299.png" Type="http://schemas.openxmlformats.org/officeDocument/2006/relationships/image"/><Relationship Id="rId22" Target="../media/image300.png" Type="http://schemas.openxmlformats.org/officeDocument/2006/relationships/image"/><Relationship Id="rId23" Target="../media/image301.png" Type="http://schemas.openxmlformats.org/officeDocument/2006/relationships/image"/><Relationship Id="rId24" Target="../media/image302.png" Type="http://schemas.openxmlformats.org/officeDocument/2006/relationships/image"/><Relationship Id="rId25" Target="../media/image303.png" Type="http://schemas.openxmlformats.org/officeDocument/2006/relationships/image"/><Relationship Id="rId26" Target="../media/image304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84.png" Type="http://schemas.openxmlformats.org/officeDocument/2006/relationships/image"/><Relationship Id="rId7" Target="../media/image285.png" Type="http://schemas.openxmlformats.org/officeDocument/2006/relationships/image"/><Relationship Id="rId8" Target="../media/image286.png" Type="http://schemas.openxmlformats.org/officeDocument/2006/relationships/image"/><Relationship Id="rId9" Target="../media/image28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9.png" Type="http://schemas.openxmlformats.org/officeDocument/2006/relationships/image"/><Relationship Id="rId11" Target="../media/image310.png" Type="http://schemas.openxmlformats.org/officeDocument/2006/relationships/image"/><Relationship Id="rId12" Target="../media/image311.png" Type="http://schemas.openxmlformats.org/officeDocument/2006/relationships/image"/><Relationship Id="rId13" Target="../media/image312.png" Type="http://schemas.openxmlformats.org/officeDocument/2006/relationships/image"/><Relationship Id="rId14" Target="../media/image313.png" Type="http://schemas.openxmlformats.org/officeDocument/2006/relationships/image"/><Relationship Id="rId15" Target="../media/image314.png" Type="http://schemas.openxmlformats.org/officeDocument/2006/relationships/image"/><Relationship Id="rId16" Target="../media/image315.png" Type="http://schemas.openxmlformats.org/officeDocument/2006/relationships/image"/><Relationship Id="rId17" Target="../media/image316.png" Type="http://schemas.openxmlformats.org/officeDocument/2006/relationships/image"/><Relationship Id="rId18" Target="../media/image317.png" Type="http://schemas.openxmlformats.org/officeDocument/2006/relationships/image"/><Relationship Id="rId19" Target="../media/image318.png" Type="http://schemas.openxmlformats.org/officeDocument/2006/relationships/image"/><Relationship Id="rId2" Target="../media/image1.png" Type="http://schemas.openxmlformats.org/officeDocument/2006/relationships/image"/><Relationship Id="rId20" Target="../media/image319.png" Type="http://schemas.openxmlformats.org/officeDocument/2006/relationships/image"/><Relationship Id="rId21" Target="../media/image320.png" Type="http://schemas.openxmlformats.org/officeDocument/2006/relationships/image"/><Relationship Id="rId22" Target="../media/image321.png" Type="http://schemas.openxmlformats.org/officeDocument/2006/relationships/image"/><Relationship Id="rId23" Target="../media/image322.png" Type="http://schemas.openxmlformats.org/officeDocument/2006/relationships/image"/><Relationship Id="rId24" Target="../media/image323.png" Type="http://schemas.openxmlformats.org/officeDocument/2006/relationships/image"/><Relationship Id="rId25" Target="../media/image324.png" Type="http://schemas.openxmlformats.org/officeDocument/2006/relationships/image"/><Relationship Id="rId26" Target="../media/image325.png" Type="http://schemas.openxmlformats.org/officeDocument/2006/relationships/image"/><Relationship Id="rId27" Target="../media/image326.png" Type="http://schemas.openxmlformats.org/officeDocument/2006/relationships/image"/><Relationship Id="rId28" Target="../media/image32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305.png" Type="http://schemas.openxmlformats.org/officeDocument/2006/relationships/image"/><Relationship Id="rId7" Target="../media/image306.png" Type="http://schemas.openxmlformats.org/officeDocument/2006/relationships/image"/><Relationship Id="rId8" Target="../media/image307.png" Type="http://schemas.openxmlformats.org/officeDocument/2006/relationships/image"/><Relationship Id="rId9" Target="../media/image30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475144" y="5249166"/>
            <a:ext cx="300038" cy="457200"/>
            <a:chOff x="0" y="0"/>
            <a:chExt cx="400050" cy="6096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654658" y="5249166"/>
            <a:ext cx="300038" cy="457200"/>
            <a:chOff x="0" y="0"/>
            <a:chExt cx="400050" cy="6096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889311" y="5249166"/>
            <a:ext cx="300038" cy="457200"/>
            <a:chOff x="0" y="0"/>
            <a:chExt cx="400050" cy="6096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466420" y="5249166"/>
            <a:ext cx="300038" cy="457200"/>
            <a:chOff x="0" y="0"/>
            <a:chExt cx="400050" cy="6096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294229" y="5249166"/>
            <a:ext cx="300038" cy="457200"/>
            <a:chOff x="0" y="0"/>
            <a:chExt cx="400050" cy="6096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927907" y="8106666"/>
            <a:ext cx="457200" cy="457200"/>
            <a:chOff x="0" y="0"/>
            <a:chExt cx="609600" cy="6096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042207" y="8220966"/>
            <a:ext cx="228600" cy="228600"/>
            <a:chOff x="0" y="0"/>
            <a:chExt cx="304800" cy="304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457803" y="2229741"/>
            <a:ext cx="1645920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Alzheimer's Disease Risk Prediction System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6422" y="3820416"/>
            <a:ext cx="146217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7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 Machine Learning Approach for Early Detection and Risk Assessment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84866" y="5973066"/>
            <a:ext cx="188059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Shady Kishk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84866" y="6401691"/>
            <a:ext cx="188059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Team Leader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52495" y="5973066"/>
            <a:ext cx="17045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Mostafa Ali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52495" y="6401691"/>
            <a:ext cx="170458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Data Scientist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033134" y="5973066"/>
            <a:ext cx="201239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Kiroles Emad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033134" y="6401691"/>
            <a:ext cx="201239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ML Engineer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53044" y="5973066"/>
            <a:ext cx="25270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Mohamed Sherif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53044" y="6401691"/>
            <a:ext cx="252701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Validation Lead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137477" y="5973066"/>
            <a:ext cx="261354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Amr Ahmed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137477" y="6401691"/>
            <a:ext cx="261354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75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Deployment Engineer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556557" y="8078091"/>
            <a:ext cx="58681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DEPI - Data Science &amp; AI Track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094230" y="8373366"/>
            <a:ext cx="273596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November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7123" y="4181475"/>
            <a:ext cx="5410052" cy="2971800"/>
            <a:chOff x="0" y="0"/>
            <a:chExt cx="7213402" cy="39624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213346" cy="3962400"/>
            </a:xfrm>
            <a:custGeom>
              <a:avLst/>
              <a:gdLst/>
              <a:ahLst/>
              <a:cxnLst/>
              <a:rect r="r" b="b" t="t" l="l"/>
              <a:pathLst>
                <a:path h="3962400" w="7213346">
                  <a:moveTo>
                    <a:pt x="0" y="0"/>
                  </a:moveTo>
                  <a:lnTo>
                    <a:pt x="7213346" y="0"/>
                  </a:lnTo>
                  <a:lnTo>
                    <a:pt x="7213346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50" r="0" b="-105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0029" y="4467225"/>
            <a:ext cx="328612" cy="571500"/>
            <a:chOff x="0" y="0"/>
            <a:chExt cx="438150" cy="762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38150" cy="762000"/>
            </a:xfrm>
            <a:custGeom>
              <a:avLst/>
              <a:gdLst/>
              <a:ahLst/>
              <a:cxnLst/>
              <a:rect r="r" b="b" t="t" l="l"/>
              <a:pathLst>
                <a:path h="762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14374" y="4181475"/>
            <a:ext cx="5410275" cy="2971800"/>
            <a:chOff x="0" y="0"/>
            <a:chExt cx="7213700" cy="39624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213727" cy="3962400"/>
            </a:xfrm>
            <a:custGeom>
              <a:avLst/>
              <a:gdLst/>
              <a:ahLst/>
              <a:cxnLst/>
              <a:rect r="r" b="b" t="t" l="l"/>
              <a:pathLst>
                <a:path h="3962400" w="7213727">
                  <a:moveTo>
                    <a:pt x="0" y="0"/>
                  </a:moveTo>
                  <a:lnTo>
                    <a:pt x="7213727" y="0"/>
                  </a:lnTo>
                  <a:lnTo>
                    <a:pt x="7213727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52" r="0" b="-105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757274" y="4524375"/>
            <a:ext cx="385762" cy="571500"/>
            <a:chOff x="0" y="0"/>
            <a:chExt cx="514350" cy="7620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14350" cy="762000"/>
            </a:xfrm>
            <a:custGeom>
              <a:avLst/>
              <a:gdLst/>
              <a:ahLst/>
              <a:cxnLst/>
              <a:rect r="r" b="b" t="t" l="l"/>
              <a:pathLst>
                <a:path h="7620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281848" y="4181475"/>
            <a:ext cx="5410052" cy="2971800"/>
            <a:chOff x="0" y="0"/>
            <a:chExt cx="7213402" cy="39624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213346" cy="3962400"/>
            </a:xfrm>
            <a:custGeom>
              <a:avLst/>
              <a:gdLst/>
              <a:ahLst/>
              <a:cxnLst/>
              <a:rect r="r" b="b" t="t" l="l"/>
              <a:pathLst>
                <a:path h="3962400" w="7213346">
                  <a:moveTo>
                    <a:pt x="0" y="0"/>
                  </a:moveTo>
                  <a:lnTo>
                    <a:pt x="7213346" y="0"/>
                  </a:lnTo>
                  <a:lnTo>
                    <a:pt x="7213346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050" r="0" b="-105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24748" y="4524375"/>
            <a:ext cx="642938" cy="571500"/>
            <a:chOff x="0" y="0"/>
            <a:chExt cx="857250" cy="7620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57250" cy="762000"/>
            </a:xfrm>
            <a:custGeom>
              <a:avLst/>
              <a:gdLst/>
              <a:ahLst/>
              <a:cxnLst/>
              <a:rect r="r" b="b" t="t" l="l"/>
              <a:pathLst>
                <a:path h="7620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7123" y="7610475"/>
            <a:ext cx="17145000" cy="857250"/>
            <a:chOff x="0" y="0"/>
            <a:chExt cx="22860000" cy="11430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286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75723" y="7167563"/>
            <a:ext cx="214312" cy="285750"/>
            <a:chOff x="0" y="0"/>
            <a:chExt cx="285750" cy="3810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46899" y="1828800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7123" y="2486025"/>
            <a:ext cx="17145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7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Alzheimer's disease and related dementias pose a significant global health challenge, affecting over </a:t>
            </a:r>
            <a:r>
              <a:rPr lang="en-US" sz="2700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50 million people</a:t>
            </a:r>
            <a:r>
              <a:rPr lang="en-US" sz="27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worldwide. Current diagnostic methods are severely limited.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47235" y="4524375"/>
            <a:ext cx="36267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Diagnostic 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0023" y="5305425"/>
            <a:ext cx="56691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$1,000-3,000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0023" y="5876925"/>
            <a:ext cx="472425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Expensive procedures that many cannot afford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71637" y="4524375"/>
            <a:ext cx="305609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Waiting Time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57274" y="5305425"/>
            <a:ext cx="566937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CA8A04"/>
                </a:solidFill>
                <a:latin typeface="Arimo Bold"/>
                <a:ea typeface="Arimo Bold"/>
                <a:cs typeface="Arimo Bold"/>
                <a:sym typeface="Arimo Bold"/>
              </a:rPr>
              <a:t>6-12 months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57274" y="5876925"/>
            <a:ext cx="566937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Long delays for crucial early intervention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96285" y="4524375"/>
            <a:ext cx="289884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Accessibility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24748" y="5305425"/>
            <a:ext cx="472425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Limited Rural Access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24748" y="6391275"/>
            <a:ext cx="566910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Healthcare disparities in remote areas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4335" y="7781925"/>
            <a:ext cx="200253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Our solution: an ML-based clinical assessment tool to address these challenges.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1500" y="3400425"/>
            <a:ext cx="8343900" cy="1600200"/>
            <a:chOff x="0" y="0"/>
            <a:chExt cx="11125200" cy="21336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1252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3743325"/>
            <a:ext cx="857250" cy="857250"/>
            <a:chOff x="0" y="0"/>
            <a:chExt cx="1143000" cy="1143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8712" y="3914775"/>
            <a:ext cx="428625" cy="514350"/>
            <a:chOff x="0" y="0"/>
            <a:chExt cx="571500" cy="6858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72600" y="3400425"/>
            <a:ext cx="8343900" cy="1600200"/>
            <a:chOff x="0" y="0"/>
            <a:chExt cx="11125200" cy="21336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1252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15500" y="3743325"/>
            <a:ext cx="857250" cy="857250"/>
            <a:chOff x="0" y="0"/>
            <a:chExt cx="1143000" cy="1143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929812" y="3914775"/>
            <a:ext cx="428625" cy="514350"/>
            <a:chOff x="0" y="0"/>
            <a:chExt cx="571500" cy="6858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71500" y="5457825"/>
            <a:ext cx="8343900" cy="1943100"/>
            <a:chOff x="0" y="0"/>
            <a:chExt cx="11125200" cy="2590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1125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5800725"/>
            <a:ext cx="857250" cy="857250"/>
            <a:chOff x="0" y="0"/>
            <a:chExt cx="1143000" cy="11430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78719" y="5972175"/>
            <a:ext cx="328612" cy="514350"/>
            <a:chOff x="0" y="0"/>
            <a:chExt cx="438150" cy="6858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38150" cy="685800"/>
            </a:xfrm>
            <a:custGeom>
              <a:avLst/>
              <a:gdLst/>
              <a:ahLst/>
              <a:cxnLst/>
              <a:rect r="r" b="b" t="t" l="l"/>
              <a:pathLst>
                <a:path h="6858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72600" y="5457825"/>
            <a:ext cx="8343900" cy="1943100"/>
            <a:chOff x="0" y="0"/>
            <a:chExt cx="11125200" cy="2590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1125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15500" y="5800725"/>
            <a:ext cx="857250" cy="857250"/>
            <a:chOff x="0" y="0"/>
            <a:chExt cx="1143000" cy="11430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15538" y="5972175"/>
            <a:ext cx="257175" cy="514350"/>
            <a:chOff x="0" y="0"/>
            <a:chExt cx="342900" cy="6858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342900" cy="685800"/>
            </a:xfrm>
            <a:custGeom>
              <a:avLst/>
              <a:gdLst/>
              <a:ahLst/>
              <a:cxnLst/>
              <a:rect r="r" b="b" t="t" l="l"/>
              <a:pathLst>
                <a:path h="685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571500" y="1666875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1500" y="2390775"/>
            <a:ext cx="17145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27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Our primary goal is to develop an effective, accessible, and cost-efficient solution for Alzheimer's risk prediction.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00250" y="3686175"/>
            <a:ext cx="64467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Build Predictive Models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00250" y="4238625"/>
            <a:ext cx="644678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Develop models with accuracy exceeding </a:t>
            </a:r>
            <a:r>
              <a:rPr lang="en-US" sz="180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90%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801350" y="3686175"/>
            <a:ext cx="75861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Deploy Web Application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801350" y="4238625"/>
            <a:ext cx="758612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Create a production-ready web platform for clinical use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00250" y="5743575"/>
            <a:ext cx="65722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Explainable AI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00250" y="6296025"/>
            <a:ext cx="65722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Provide transparent predictions to foster trust and clinical utility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801350" y="5743575"/>
            <a:ext cx="533745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Reduce Costs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801350" y="6296025"/>
            <a:ext cx="533745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Decrease diagnostic expenses by </a:t>
            </a:r>
            <a:r>
              <a:rPr lang="en-US" sz="18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99%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792563" y="8010525"/>
            <a:ext cx="186291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Traditional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293617" y="8543925"/>
            <a:ext cx="306038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FF6B35"/>
                </a:solidFill>
                <a:latin typeface="Arimo Bold"/>
                <a:ea typeface="Arimo Bold"/>
                <a:cs typeface="Arimo Bold"/>
                <a:sym typeface="Arimo Bold"/>
              </a:rPr>
              <a:t>$1,000-3,000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61486" y="8010525"/>
            <a:ext cx="218652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758336" y="8543925"/>
            <a:ext cx="26740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047954"/>
                </a:solidFill>
                <a:latin typeface="Arimo Bold"/>
                <a:ea typeface="Arimo Bold"/>
                <a:cs typeface="Arimo Bold"/>
                <a:sym typeface="Arimo Bold"/>
              </a:rPr>
              <a:t>$0-7/month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672539" y="8296275"/>
            <a:ext cx="51729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↓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60820" y="8286750"/>
            <a:ext cx="346891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99% Reduction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1654" y="3277491"/>
            <a:ext cx="5562525" cy="1428750"/>
            <a:chOff x="0" y="0"/>
            <a:chExt cx="7416700" cy="19050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416673" cy="1905000"/>
            </a:xfrm>
            <a:custGeom>
              <a:avLst/>
              <a:gdLst/>
              <a:ahLst/>
              <a:cxnLst/>
              <a:rect r="r" b="b" t="t" l="l"/>
              <a:pathLst>
                <a:path h="1905000" w="7416673">
                  <a:moveTo>
                    <a:pt x="0" y="0"/>
                  </a:moveTo>
                  <a:lnTo>
                    <a:pt x="7416673" y="0"/>
                  </a:lnTo>
                  <a:lnTo>
                    <a:pt x="7416673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2" r="0" b="-4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63104" y="3448941"/>
            <a:ext cx="542925" cy="514350"/>
            <a:chOff x="0" y="0"/>
            <a:chExt cx="723900" cy="685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23900" cy="685800"/>
            </a:xfrm>
            <a:custGeom>
              <a:avLst/>
              <a:gdLst/>
              <a:ahLst/>
              <a:cxnLst/>
              <a:rect r="r" b="b" t="t" l="l"/>
              <a:pathLst>
                <a:path h="6858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11379" y="3277491"/>
            <a:ext cx="5562525" cy="1428750"/>
            <a:chOff x="0" y="0"/>
            <a:chExt cx="7416700" cy="19050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416673" cy="1905000"/>
            </a:xfrm>
            <a:custGeom>
              <a:avLst/>
              <a:gdLst/>
              <a:ahLst/>
              <a:cxnLst/>
              <a:rect r="r" b="b" t="t" l="l"/>
              <a:pathLst>
                <a:path h="1905000" w="7416673">
                  <a:moveTo>
                    <a:pt x="0" y="0"/>
                  </a:moveTo>
                  <a:lnTo>
                    <a:pt x="7416673" y="0"/>
                  </a:lnTo>
                  <a:lnTo>
                    <a:pt x="7416673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2" r="0" b="-4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82829" y="3448941"/>
            <a:ext cx="328612" cy="514350"/>
            <a:chOff x="0" y="0"/>
            <a:chExt cx="438150" cy="685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38150" cy="685800"/>
            </a:xfrm>
            <a:custGeom>
              <a:avLst/>
              <a:gdLst/>
              <a:ahLst/>
              <a:cxnLst/>
              <a:rect r="r" b="b" t="t" l="l"/>
              <a:pathLst>
                <a:path h="6858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31106" y="3277491"/>
            <a:ext cx="5562525" cy="1428750"/>
            <a:chOff x="0" y="0"/>
            <a:chExt cx="7416700" cy="1905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416673" cy="1905000"/>
            </a:xfrm>
            <a:custGeom>
              <a:avLst/>
              <a:gdLst/>
              <a:ahLst/>
              <a:cxnLst/>
              <a:rect r="r" b="b" t="t" l="l"/>
              <a:pathLst>
                <a:path h="1905000" w="7416673">
                  <a:moveTo>
                    <a:pt x="0" y="0"/>
                  </a:moveTo>
                  <a:lnTo>
                    <a:pt x="7416673" y="0"/>
                  </a:lnTo>
                  <a:lnTo>
                    <a:pt x="7416673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2" r="0" b="-4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2556" y="3448941"/>
            <a:ext cx="542925" cy="514350"/>
            <a:chOff x="0" y="0"/>
            <a:chExt cx="723900" cy="6858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23900" cy="685800"/>
            </a:xfrm>
            <a:custGeom>
              <a:avLst/>
              <a:gdLst/>
              <a:ahLst/>
              <a:cxnLst/>
              <a:rect r="r" b="b" t="t" l="l"/>
              <a:pathLst>
                <a:path h="6858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91654" y="4934841"/>
            <a:ext cx="8686800" cy="1885950"/>
            <a:chOff x="0" y="0"/>
            <a:chExt cx="11582400" cy="25146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15824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63104" y="5106291"/>
            <a:ext cx="385762" cy="457200"/>
            <a:chOff x="0" y="0"/>
            <a:chExt cx="514350" cy="6096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143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07054" y="4934841"/>
            <a:ext cx="8686800" cy="1885950"/>
            <a:chOff x="0" y="0"/>
            <a:chExt cx="11582400" cy="25146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15824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78504" y="5106291"/>
            <a:ext cx="342900" cy="457200"/>
            <a:chOff x="0" y="0"/>
            <a:chExt cx="457200" cy="6096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91654" y="7049391"/>
            <a:ext cx="8686800" cy="1885950"/>
            <a:chOff x="0" y="0"/>
            <a:chExt cx="11582400" cy="25146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15824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63104" y="7220841"/>
            <a:ext cx="257175" cy="457200"/>
            <a:chOff x="0" y="0"/>
            <a:chExt cx="342900" cy="6096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342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07054" y="7049391"/>
            <a:ext cx="8686800" cy="1885950"/>
            <a:chOff x="0" y="0"/>
            <a:chExt cx="11582400" cy="25146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115824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78504" y="7220841"/>
            <a:ext cx="342900" cy="457200"/>
            <a:chOff x="0" y="0"/>
            <a:chExt cx="457200" cy="6096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391654" y="2029716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Dataset Overview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91654" y="2763141"/>
            <a:ext cx="176022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Our dataset comprises clinical assessments from </a:t>
            </a:r>
            <a:r>
              <a:rPr lang="en-US" sz="2250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2,149 patients</a:t>
            </a: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, including </a:t>
            </a:r>
            <a:r>
              <a:rPr lang="en-US" sz="2250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35 health features</a:t>
            </a: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across multiple categories.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77479" y="3448941"/>
            <a:ext cx="26545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Patient Count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3104" y="4001391"/>
            <a:ext cx="52196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2,149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082892" y="3448941"/>
            <a:ext cx="309413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Health Features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582829" y="4001391"/>
            <a:ext cx="52196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35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316931" y="3448941"/>
            <a:ext cx="343569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Class Distribution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602556" y="3944241"/>
            <a:ext cx="52196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CA8A04"/>
                </a:solidFill>
                <a:latin typeface="Arimo Bold"/>
                <a:ea typeface="Arimo Bold"/>
                <a:cs typeface="Arimo Bold"/>
                <a:sym typeface="Arimo Bold"/>
              </a:rPr>
              <a:t>Balanced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0317" y="5077716"/>
            <a:ext cx="277052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Demographics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34554" y="554444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Age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34554" y="588734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Gender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34554" y="623024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Ethnicity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992854" y="5077716"/>
            <a:ext cx="165958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Lifestyle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649954" y="554444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BMI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649954" y="588734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Smoking Status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649954" y="623024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Physical Activity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91729" y="7192266"/>
            <a:ext cx="300921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Medical History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34554" y="765899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Hypertension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34554" y="800189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Diabetes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34554" y="834479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Cardiovascular Disease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992854" y="7192266"/>
            <a:ext cx="44676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Cognitive Assessments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49954" y="7658991"/>
            <a:ext cx="98069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MMSE (Mini-Mental State Examination)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649954" y="8001891"/>
            <a:ext cx="8172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Memory Complaints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649954" y="8344791"/>
            <a:ext cx="98069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ADL (Activities of Daily Living)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4350" y="2878471"/>
            <a:ext cx="8343900" cy="1371600"/>
            <a:chOff x="0" y="0"/>
            <a:chExt cx="11125200" cy="18288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12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0100" y="3164221"/>
            <a:ext cx="771525" cy="800100"/>
            <a:chOff x="0" y="0"/>
            <a:chExt cx="1028700" cy="1066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287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1550" y="3335671"/>
            <a:ext cx="428625" cy="457200"/>
            <a:chOff x="0" y="0"/>
            <a:chExt cx="571500" cy="6096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71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4350" y="4592971"/>
            <a:ext cx="8343900" cy="1371600"/>
            <a:chOff x="0" y="0"/>
            <a:chExt cx="11125200" cy="1828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12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0100" y="4878721"/>
            <a:ext cx="685800" cy="800100"/>
            <a:chOff x="0" y="0"/>
            <a:chExt cx="914400" cy="10668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144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1550" y="5050171"/>
            <a:ext cx="342900" cy="457200"/>
            <a:chOff x="0" y="0"/>
            <a:chExt cx="457200" cy="6096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" y="6307471"/>
            <a:ext cx="8343900" cy="1371600"/>
            <a:chOff x="0" y="0"/>
            <a:chExt cx="11125200" cy="1828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112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00100" y="6593221"/>
            <a:ext cx="642938" cy="800100"/>
            <a:chOff x="0" y="0"/>
            <a:chExt cx="857250" cy="1066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857250" cy="1066800"/>
            </a:xfrm>
            <a:custGeom>
              <a:avLst/>
              <a:gdLst/>
              <a:ahLst/>
              <a:cxnLst/>
              <a:rect r="r" b="b" t="t" l="l"/>
              <a:pathLst>
                <a:path h="1066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1550" y="6764671"/>
            <a:ext cx="300038" cy="457200"/>
            <a:chOff x="0" y="0"/>
            <a:chExt cx="400050" cy="6096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44050" y="2071227"/>
            <a:ext cx="8343900" cy="7543800"/>
            <a:chOff x="0" y="0"/>
            <a:chExt cx="11125200" cy="100584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11252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10058400"/>
                  </a:lnTo>
                  <a:lnTo>
                    <a:pt x="0" y="1005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86950" y="3099927"/>
            <a:ext cx="7658100" cy="2857500"/>
            <a:chOff x="0" y="0"/>
            <a:chExt cx="10210800" cy="38100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21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86950" y="6300327"/>
            <a:ext cx="7658100" cy="2857500"/>
            <a:chOff x="0" y="0"/>
            <a:chExt cx="10210800" cy="38100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02108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400050" y="1734280"/>
            <a:ext cx="6374725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Exploratory Data 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14350" y="2302207"/>
            <a:ext cx="10012680" cy="56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Key insights from the dataset analysis: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00225" y="3135646"/>
            <a:ext cx="615277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Age Difference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800225" y="3516646"/>
            <a:ext cx="73833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Alzheimer's patients are </a:t>
            </a:r>
            <a:r>
              <a:rPr lang="en-US" sz="180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1.6 years older</a:t>
            </a: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on average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14500" y="4850146"/>
            <a:ext cx="425454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MMSE Score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14500" y="5231146"/>
            <a:ext cx="510546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6.6 points lower in Alzheimer's group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71638" y="6564645"/>
            <a:ext cx="560882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Physical Activity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1638" y="6945646"/>
            <a:ext cx="560882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1.8 hrs/week less in Alzheimer's patients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886950" y="2356977"/>
            <a:ext cx="76581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Key Correlations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10937" y="2943225"/>
            <a:ext cx="8515350" cy="1714500"/>
            <a:chOff x="0" y="0"/>
            <a:chExt cx="11353800" cy="22860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9537" y="3228975"/>
            <a:ext cx="285750" cy="285750"/>
            <a:chOff x="0" y="0"/>
            <a:chExt cx="381000" cy="381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69187" y="2943225"/>
            <a:ext cx="8515350" cy="1714500"/>
            <a:chOff x="0" y="0"/>
            <a:chExt cx="11353800" cy="22860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1353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97787" y="3228975"/>
            <a:ext cx="285750" cy="285750"/>
            <a:chOff x="0" y="0"/>
            <a:chExt cx="381000" cy="3810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10937" y="5000625"/>
            <a:ext cx="5225877" cy="571500"/>
            <a:chOff x="0" y="0"/>
            <a:chExt cx="6967836" cy="762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967855" cy="762000"/>
            </a:xfrm>
            <a:custGeom>
              <a:avLst/>
              <a:gdLst/>
              <a:ahLst/>
              <a:cxnLst/>
              <a:rect r="r" b="b" t="t" l="l"/>
              <a:pathLst>
                <a:path h="762000" w="6967855">
                  <a:moveTo>
                    <a:pt x="0" y="0"/>
                  </a:moveTo>
                  <a:lnTo>
                    <a:pt x="6967855" y="0"/>
                  </a:lnTo>
                  <a:lnTo>
                    <a:pt x="696785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4" r="0" b="-10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536814" y="5000625"/>
            <a:ext cx="2864198" cy="571500"/>
            <a:chOff x="0" y="0"/>
            <a:chExt cx="3818930" cy="7620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381889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8890">
                  <a:moveTo>
                    <a:pt x="0" y="0"/>
                  </a:moveTo>
                  <a:lnTo>
                    <a:pt x="3818890" y="0"/>
                  </a:lnTo>
                  <a:lnTo>
                    <a:pt x="381889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" r="-1" b="-117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01010" y="5000625"/>
            <a:ext cx="2403202" cy="571500"/>
            <a:chOff x="0" y="0"/>
            <a:chExt cx="3204270" cy="7620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204210" cy="762000"/>
            </a:xfrm>
            <a:custGeom>
              <a:avLst/>
              <a:gdLst/>
              <a:ahLst/>
              <a:cxnLst/>
              <a:rect r="r" b="b" t="t" l="l"/>
              <a:pathLst>
                <a:path h="762000" w="3204210">
                  <a:moveTo>
                    <a:pt x="0" y="0"/>
                  </a:moveTo>
                  <a:lnTo>
                    <a:pt x="3204210" y="0"/>
                  </a:lnTo>
                  <a:lnTo>
                    <a:pt x="320421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60" r="-1" b="-6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804213" y="5000625"/>
            <a:ext cx="6880324" cy="571500"/>
            <a:chOff x="0" y="0"/>
            <a:chExt cx="9173766" cy="7620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173718" cy="762000"/>
            </a:xfrm>
            <a:custGeom>
              <a:avLst/>
              <a:gdLst/>
              <a:ahLst/>
              <a:cxnLst/>
              <a:rect r="r" b="b" t="t" l="l"/>
              <a:pathLst>
                <a:path h="762000" w="9173718">
                  <a:moveTo>
                    <a:pt x="0" y="0"/>
                  </a:moveTo>
                  <a:lnTo>
                    <a:pt x="9173718" y="0"/>
                  </a:lnTo>
                  <a:lnTo>
                    <a:pt x="9173718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8" r="0" b="-5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122583" y="5786438"/>
            <a:ext cx="1371600" cy="142875"/>
            <a:chOff x="0" y="0"/>
            <a:chExt cx="1828800" cy="1905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828800" cy="190500"/>
            </a:xfrm>
            <a:custGeom>
              <a:avLst/>
              <a:gdLst/>
              <a:ahLst/>
              <a:cxnLst/>
              <a:rect r="r" b="b" t="t" l="l"/>
              <a:pathLst>
                <a:path h="190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122583" y="5786438"/>
            <a:ext cx="1302841" cy="142875"/>
            <a:chOff x="0" y="0"/>
            <a:chExt cx="1737122" cy="1905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737106" cy="190500"/>
            </a:xfrm>
            <a:custGeom>
              <a:avLst/>
              <a:gdLst/>
              <a:ahLst/>
              <a:cxnLst/>
              <a:rect r="r" b="b" t="t" l="l"/>
              <a:pathLst>
                <a:path h="190500" w="1737106">
                  <a:moveTo>
                    <a:pt x="0" y="0"/>
                  </a:moveTo>
                  <a:lnTo>
                    <a:pt x="1737106" y="0"/>
                  </a:lnTo>
                  <a:lnTo>
                    <a:pt x="1737106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03" r="0" b="-10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10937" y="6143625"/>
            <a:ext cx="17373600" cy="571500"/>
            <a:chOff x="0" y="0"/>
            <a:chExt cx="23164800" cy="7620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231648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122583" y="6357938"/>
            <a:ext cx="1371600" cy="142875"/>
            <a:chOff x="0" y="0"/>
            <a:chExt cx="1828800" cy="1905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828800" cy="190500"/>
            </a:xfrm>
            <a:custGeom>
              <a:avLst/>
              <a:gdLst/>
              <a:ahLst/>
              <a:cxnLst/>
              <a:rect r="r" b="b" t="t" l="l"/>
              <a:pathLst>
                <a:path h="190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122583" y="6357938"/>
            <a:ext cx="1028700" cy="142875"/>
            <a:chOff x="0" y="0"/>
            <a:chExt cx="1371600" cy="1905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1371600" cy="190500"/>
            </a:xfrm>
            <a:custGeom>
              <a:avLst/>
              <a:gdLst/>
              <a:ahLst/>
              <a:cxnLst/>
              <a:rect r="r" b="b" t="t" l="l"/>
              <a:pathLst>
                <a:path h="1905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254965" y="6929438"/>
            <a:ext cx="1371600" cy="142875"/>
            <a:chOff x="0" y="0"/>
            <a:chExt cx="1828800" cy="1905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1828800" cy="190500"/>
            </a:xfrm>
            <a:custGeom>
              <a:avLst/>
              <a:gdLst/>
              <a:ahLst/>
              <a:cxnLst/>
              <a:rect r="r" b="b" t="t" l="l"/>
              <a:pathLst>
                <a:path h="190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254965" y="6929438"/>
            <a:ext cx="521047" cy="142875"/>
            <a:chOff x="0" y="0"/>
            <a:chExt cx="694730" cy="1905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94690" cy="190500"/>
            </a:xfrm>
            <a:custGeom>
              <a:avLst/>
              <a:gdLst/>
              <a:ahLst/>
              <a:cxnLst/>
              <a:rect r="r" b="b" t="t" l="l"/>
              <a:pathLst>
                <a:path h="190500" w="694690">
                  <a:moveTo>
                    <a:pt x="0" y="0"/>
                  </a:moveTo>
                  <a:lnTo>
                    <a:pt x="694690" y="0"/>
                  </a:lnTo>
                  <a:lnTo>
                    <a:pt x="69469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651" r="-5" b="-65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10937" y="7286625"/>
            <a:ext cx="17373600" cy="571500"/>
            <a:chOff x="0" y="0"/>
            <a:chExt cx="23164800" cy="7620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231648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362221" y="7500938"/>
            <a:ext cx="1371600" cy="142875"/>
            <a:chOff x="0" y="0"/>
            <a:chExt cx="1828800" cy="1905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1828800" cy="190500"/>
            </a:xfrm>
            <a:custGeom>
              <a:avLst/>
              <a:gdLst/>
              <a:ahLst/>
              <a:cxnLst/>
              <a:rect r="r" b="b" t="t" l="l"/>
              <a:pathLst>
                <a:path h="190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362221" y="7500938"/>
            <a:ext cx="1357759" cy="142875"/>
            <a:chOff x="0" y="0"/>
            <a:chExt cx="1810346" cy="1905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810385" cy="190500"/>
            </a:xfrm>
            <a:custGeom>
              <a:avLst/>
              <a:gdLst/>
              <a:ahLst/>
              <a:cxnLst/>
              <a:rect r="r" b="b" t="t" l="l"/>
              <a:pathLst>
                <a:path h="190500" w="1810385">
                  <a:moveTo>
                    <a:pt x="0" y="0"/>
                  </a:moveTo>
                  <a:lnTo>
                    <a:pt x="1810385" y="0"/>
                  </a:lnTo>
                  <a:lnTo>
                    <a:pt x="1810385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16" r="2" b="-1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122583" y="8072438"/>
            <a:ext cx="1371600" cy="142875"/>
            <a:chOff x="0" y="0"/>
            <a:chExt cx="1828800" cy="1905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1828800" cy="190500"/>
            </a:xfrm>
            <a:custGeom>
              <a:avLst/>
              <a:gdLst/>
              <a:ahLst/>
              <a:cxnLst/>
              <a:rect r="r" b="b" t="t" l="l"/>
              <a:pathLst>
                <a:path h="190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122583" y="8072438"/>
            <a:ext cx="713035" cy="142875"/>
            <a:chOff x="0" y="0"/>
            <a:chExt cx="950714" cy="1905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950722" cy="190500"/>
            </a:xfrm>
            <a:custGeom>
              <a:avLst/>
              <a:gdLst/>
              <a:ahLst/>
              <a:cxnLst/>
              <a:rect r="r" b="b" t="t" l="l"/>
              <a:pathLst>
                <a:path h="190500" w="950722">
                  <a:moveTo>
                    <a:pt x="0" y="0"/>
                  </a:moveTo>
                  <a:lnTo>
                    <a:pt x="950722" y="0"/>
                  </a:lnTo>
                  <a:lnTo>
                    <a:pt x="950722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924" r="0" b="-924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425237" y="1866900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Statistical Analysis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25237" y="2486025"/>
            <a:ext cx="20848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Statistical validation confirmed significant differences between patient groups.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39587" y="3114675"/>
            <a:ext cx="80581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Parametric Tests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6687" y="3609975"/>
            <a:ext cx="9601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T-tests for continuous features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96687" y="4010025"/>
            <a:ext cx="8001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ANOVA for education effect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797837" y="3114675"/>
            <a:ext cx="80581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Non-parametric Tests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454937" y="3609975"/>
            <a:ext cx="9601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Chi-square for categorical features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454937" y="4010025"/>
            <a:ext cx="9601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28 out of 35 features significant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39537" y="4924425"/>
            <a:ext cx="522587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Feature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765414" y="4924425"/>
            <a:ext cx="28641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Test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629610" y="4924425"/>
            <a:ext cx="24032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P-value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032813" y="4924425"/>
            <a:ext cx="6880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Effect Size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39537" y="5495925"/>
            <a:ext cx="522587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MMSE Score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765414" y="5495925"/>
            <a:ext cx="28641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T-test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629610" y="5495925"/>
            <a:ext cx="24032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&lt;0.001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032813" y="5610225"/>
            <a:ext cx="237056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Cohen's d = 1.89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39537" y="6067425"/>
            <a:ext cx="627105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Functional Assessment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765414" y="6067425"/>
            <a:ext cx="28641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T-test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629610" y="6067425"/>
            <a:ext cx="24032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&lt;0.001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032813" y="6181725"/>
            <a:ext cx="237056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Cohen's d = 1.45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39537" y="6638925"/>
            <a:ext cx="522587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Memory Complaints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765414" y="6638925"/>
            <a:ext cx="28641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Chi-square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629610" y="6638925"/>
            <a:ext cx="24032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&lt;0.001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032813" y="6753225"/>
            <a:ext cx="25294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Cramér's V = 0.38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39537" y="7210425"/>
            <a:ext cx="522587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Family History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765414" y="7210425"/>
            <a:ext cx="28641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Chi-square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629610" y="7210425"/>
            <a:ext cx="24032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&lt;0.001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032813" y="7324725"/>
            <a:ext cx="145812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χ² = 156.4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39537" y="7781925"/>
            <a:ext cx="522587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Physical Activity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765414" y="7781925"/>
            <a:ext cx="286419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T-test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629610" y="7781925"/>
            <a:ext cx="240320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&lt;0.001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032813" y="7896225"/>
            <a:ext cx="237056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Cohen's d = 0.52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5315" y="3115631"/>
            <a:ext cx="4343400" cy="1943100"/>
            <a:chOff x="0" y="0"/>
            <a:chExt cx="5791200" cy="25908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791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70" r="0" b="-147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21065" y="3401381"/>
            <a:ext cx="428625" cy="514350"/>
            <a:chOff x="0" y="0"/>
            <a:chExt cx="571500" cy="685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750152" y="3901444"/>
            <a:ext cx="214312" cy="342900"/>
            <a:chOff x="0" y="0"/>
            <a:chExt cx="285750" cy="4572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678715" y="3115631"/>
            <a:ext cx="4343400" cy="1943100"/>
            <a:chOff x="0" y="0"/>
            <a:chExt cx="5791200" cy="2590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791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470" r="0" b="-147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964465" y="3401381"/>
            <a:ext cx="428625" cy="514350"/>
            <a:chOff x="0" y="0"/>
            <a:chExt cx="571500" cy="6858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93552" y="3901444"/>
            <a:ext cx="214312" cy="342900"/>
            <a:chOff x="0" y="0"/>
            <a:chExt cx="285750" cy="4572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022115" y="3115631"/>
            <a:ext cx="4343400" cy="1943100"/>
            <a:chOff x="0" y="0"/>
            <a:chExt cx="5791200" cy="2590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791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470" r="0" b="-147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07865" y="3401381"/>
            <a:ext cx="542925" cy="514350"/>
            <a:chOff x="0" y="0"/>
            <a:chExt cx="723900" cy="685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723900" cy="685800"/>
            </a:xfrm>
            <a:custGeom>
              <a:avLst/>
              <a:gdLst/>
              <a:ahLst/>
              <a:cxnLst/>
              <a:rect r="r" b="b" t="t" l="l"/>
              <a:pathLst>
                <a:path h="6858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436952" y="3901444"/>
            <a:ext cx="214312" cy="342900"/>
            <a:chOff x="0" y="0"/>
            <a:chExt cx="285750" cy="4572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65515" y="3115631"/>
            <a:ext cx="4343400" cy="1943100"/>
            <a:chOff x="0" y="0"/>
            <a:chExt cx="5791200" cy="2590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791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470" r="0" b="-147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651265" y="3401381"/>
            <a:ext cx="428625" cy="514350"/>
            <a:chOff x="0" y="0"/>
            <a:chExt cx="571500" cy="685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35315" y="5630231"/>
            <a:ext cx="8515350" cy="1428750"/>
            <a:chOff x="0" y="0"/>
            <a:chExt cx="11353800" cy="19050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13538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93565" y="5630231"/>
            <a:ext cx="8515350" cy="1428750"/>
            <a:chOff x="0" y="0"/>
            <a:chExt cx="11353800" cy="19050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113538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79315" y="5973131"/>
            <a:ext cx="357188" cy="285750"/>
            <a:chOff x="0" y="0"/>
            <a:chExt cx="476250" cy="3810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449615" y="1934531"/>
            <a:ext cx="723185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0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Data Quality &amp; Preprocessing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9615" y="2486981"/>
            <a:ext cx="20848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Ensuring data quality and applying appropriate preprocessing is crucial for model performance.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21140" y="3401381"/>
            <a:ext cx="351177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No Missing Values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21065" y="4010981"/>
            <a:ext cx="3771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Dataset verified to contain no missing values.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564540" y="3401381"/>
            <a:ext cx="333389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Outlier Detection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64465" y="4010981"/>
            <a:ext cx="3771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IQR method used to identify and handle outliers.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022240" y="3401381"/>
            <a:ext cx="270757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Normalization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07865" y="4010981"/>
            <a:ext cx="3771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StandardScaler applied for feature normalization.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251340" y="3401381"/>
            <a:ext cx="33633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SMOTE Balancing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651265" y="4010981"/>
            <a:ext cx="37719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Implemented for 1:1 class ratio after balancing.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35365" y="5858831"/>
            <a:ext cx="79438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Train/Test Split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21065" y="6354131"/>
            <a:ext cx="95326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80/20 stratified split for training and testing.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950802" y="5858831"/>
            <a:ext cx="79438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Feature Engineering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79315" y="6354131"/>
            <a:ext cx="95326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All features clinically validated, no synthetic features needed.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5245" y="2857500"/>
            <a:ext cx="914400" cy="914400"/>
            <a:chOff x="0" y="0"/>
            <a:chExt cx="1219200" cy="1219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32426" y="3086100"/>
            <a:ext cx="300038" cy="457200"/>
            <a:chOff x="0" y="0"/>
            <a:chExt cx="400050" cy="6096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810353" y="3343275"/>
            <a:ext cx="185738" cy="400050"/>
            <a:chOff x="0" y="0"/>
            <a:chExt cx="247650" cy="5334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47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614595" y="2857500"/>
            <a:ext cx="914400" cy="914400"/>
            <a:chOff x="0" y="0"/>
            <a:chExt cx="1219200" cy="1219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900345" y="3086100"/>
            <a:ext cx="342900" cy="457200"/>
            <a:chOff x="0" y="0"/>
            <a:chExt cx="457200" cy="6096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47724" y="3343275"/>
            <a:ext cx="185738" cy="400050"/>
            <a:chOff x="0" y="0"/>
            <a:chExt cx="247650" cy="5334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47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611523" y="2857500"/>
            <a:ext cx="914400" cy="914400"/>
            <a:chOff x="0" y="0"/>
            <a:chExt cx="1219200" cy="12192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897273" y="3086100"/>
            <a:ext cx="342900" cy="457200"/>
            <a:chOff x="0" y="0"/>
            <a:chExt cx="457200" cy="6096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803985" y="3343275"/>
            <a:ext cx="185738" cy="400050"/>
            <a:chOff x="0" y="0"/>
            <a:chExt cx="247650" cy="5334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247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641045" y="2857500"/>
            <a:ext cx="914400" cy="914400"/>
            <a:chOff x="0" y="0"/>
            <a:chExt cx="1219200" cy="12192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83933" y="3086100"/>
            <a:ext cx="428625" cy="457200"/>
            <a:chOff x="0" y="0"/>
            <a:chExt cx="571500" cy="6096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71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206990" y="3343275"/>
            <a:ext cx="185738" cy="400050"/>
            <a:chOff x="0" y="0"/>
            <a:chExt cx="247650" cy="533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247650" cy="533400"/>
            </a:xfrm>
            <a:custGeom>
              <a:avLst/>
              <a:gdLst/>
              <a:ahLst/>
              <a:cxnLst/>
              <a:rect r="r" b="b" t="t" l="l"/>
              <a:pathLst>
                <a:path h="5334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6781294" y="2857500"/>
            <a:ext cx="914400" cy="914400"/>
            <a:chOff x="0" y="0"/>
            <a:chExt cx="1219200" cy="12192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067044" y="3086100"/>
            <a:ext cx="342900" cy="457200"/>
            <a:chOff x="0" y="0"/>
            <a:chExt cx="457200" cy="6096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32823" y="5372100"/>
            <a:ext cx="8515350" cy="971550"/>
            <a:chOff x="0" y="0"/>
            <a:chExt cx="11353800" cy="12954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13538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04273" y="5572125"/>
            <a:ext cx="571500" cy="571500"/>
            <a:chOff x="0" y="0"/>
            <a:chExt cx="762000" cy="7620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75723" y="5743575"/>
            <a:ext cx="228600" cy="228600"/>
            <a:chOff x="0" y="0"/>
            <a:chExt cx="304800" cy="3048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32823" y="6515100"/>
            <a:ext cx="8515350" cy="971550"/>
            <a:chOff x="0" y="0"/>
            <a:chExt cx="11353800" cy="12954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13538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04273" y="6715125"/>
            <a:ext cx="571500" cy="571500"/>
            <a:chOff x="0" y="0"/>
            <a:chExt cx="762000" cy="7620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90010" y="6886575"/>
            <a:ext cx="200025" cy="228600"/>
            <a:chOff x="0" y="0"/>
            <a:chExt cx="266700" cy="3048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32823" y="7658100"/>
            <a:ext cx="8515350" cy="971550"/>
            <a:chOff x="0" y="0"/>
            <a:chExt cx="11353800" cy="12954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113538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04273" y="7858125"/>
            <a:ext cx="571500" cy="571500"/>
            <a:chOff x="0" y="0"/>
            <a:chExt cx="762000" cy="7620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75723" y="8029575"/>
            <a:ext cx="228600" cy="228600"/>
            <a:chOff x="0" y="0"/>
            <a:chExt cx="304800" cy="3048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291073" y="5372100"/>
            <a:ext cx="8515350" cy="3886200"/>
            <a:chOff x="0" y="0"/>
            <a:chExt cx="11353800" cy="51816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11353800" cy="5181600"/>
            </a:xfrm>
            <a:custGeom>
              <a:avLst/>
              <a:gdLst/>
              <a:ahLst/>
              <a:cxnLst/>
              <a:rect r="r" b="b" t="t" l="l"/>
              <a:pathLst>
                <a:path h="5181600" w="11353800">
                  <a:moveTo>
                    <a:pt x="0" y="0"/>
                  </a:moveTo>
                  <a:lnTo>
                    <a:pt x="11353800" y="0"/>
                  </a:lnTo>
                  <a:lnTo>
                    <a:pt x="11353800" y="5181600"/>
                  </a:lnTo>
                  <a:lnTo>
                    <a:pt x="0" y="51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19673" y="5600700"/>
            <a:ext cx="571500" cy="571500"/>
            <a:chOff x="0" y="0"/>
            <a:chExt cx="762000" cy="7620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91123" y="5772150"/>
            <a:ext cx="228600" cy="228600"/>
            <a:chOff x="0" y="0"/>
            <a:chExt cx="304800" cy="30480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48273" y="6858000"/>
            <a:ext cx="228600" cy="228600"/>
            <a:chOff x="0" y="0"/>
            <a:chExt cx="304800" cy="30480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748273" y="7258050"/>
            <a:ext cx="228600" cy="228600"/>
            <a:chOff x="0" y="0"/>
            <a:chExt cx="304800" cy="30480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748273" y="7658100"/>
            <a:ext cx="228600" cy="228600"/>
            <a:chOff x="0" y="0"/>
            <a:chExt cx="304800" cy="304800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748273" y="8058150"/>
            <a:ext cx="228600" cy="228600"/>
            <a:chOff x="0" y="0"/>
            <a:chExt cx="304800" cy="30480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19673" y="8515350"/>
            <a:ext cx="8058150" cy="514350"/>
            <a:chOff x="0" y="0"/>
            <a:chExt cx="10744200" cy="685800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10744200" cy="685800"/>
            </a:xfrm>
            <a:custGeom>
              <a:avLst/>
              <a:gdLst/>
              <a:ahLst/>
              <a:cxnLst/>
              <a:rect r="r" b="b" t="t" l="l"/>
              <a:pathLst>
                <a:path h="685800" w="10744200">
                  <a:moveTo>
                    <a:pt x="0" y="0"/>
                  </a:moveTo>
                  <a:lnTo>
                    <a:pt x="10744200" y="0"/>
                  </a:lnTo>
                  <a:lnTo>
                    <a:pt x="10744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33973" y="8658225"/>
            <a:ext cx="200025" cy="200025"/>
            <a:chOff x="0" y="0"/>
            <a:chExt cx="266700" cy="266700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413773" y="1647825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Model Architecture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32823" y="2200275"/>
            <a:ext cx="17373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 Pipeline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22876" y="3810000"/>
            <a:ext cx="131936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Raw Data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114600" y="3810000"/>
            <a:ext cx="191461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Preprocessing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584913" y="3810000"/>
            <a:ext cx="9676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SMOTE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101669" y="3810000"/>
            <a:ext cx="199337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Model Training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6557226" y="3810000"/>
            <a:ext cx="136275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Prediction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32823" y="4629150"/>
            <a:ext cx="85153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Algorithms Tested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47223" y="5467350"/>
            <a:ext cx="402693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347223" y="5838825"/>
            <a:ext cx="402693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Baseline model (89.3% accuracy)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47223" y="6610350"/>
            <a:ext cx="373595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Random Forest </a:t>
            </a:r>
            <a:r>
              <a:rPr lang="en-US" sz="1800" b="true">
                <a:solidFill>
                  <a:srgbClr val="EAB308"/>
                </a:solidFill>
                <a:latin typeface="Arimo Bold"/>
                <a:ea typeface="Arimo Bold"/>
                <a:cs typeface="Arimo Bold"/>
                <a:sym typeface="Arimo Bold"/>
              </a:rPr>
              <a:t>(SELECTED)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47223" y="6981825"/>
            <a:ext cx="448314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Best performance (94.75% accuracy)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47223" y="7753350"/>
            <a:ext cx="297787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Gradient Boosting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47223" y="8124825"/>
            <a:ext cx="297787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Alternative tested model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291073" y="4629150"/>
            <a:ext cx="102184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Hyperparameter Tuning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262623" y="5638800"/>
            <a:ext cx="64960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GridSearchCV with 5-fold Cross-Validation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519673" y="6267450"/>
            <a:ext cx="9669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Best Parameters for Random Forest: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091173" y="6724650"/>
            <a:ext cx="24761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n_estimators: 200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091173" y="7124700"/>
            <a:ext cx="20622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max_depth: 20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091173" y="7524750"/>
            <a:ext cx="286321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min_samples_split: 2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091173" y="7924800"/>
            <a:ext cx="317691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class_weight: balanced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891148" y="8582025"/>
            <a:ext cx="939546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Cross-validation accuracy: 96.98% ± 0.43%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34504" y="2977158"/>
            <a:ext cx="385762" cy="342900"/>
            <a:chOff x="0" y="0"/>
            <a:chExt cx="514350" cy="457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34504" y="3505795"/>
            <a:ext cx="8629650" cy="3657600"/>
            <a:chOff x="0" y="0"/>
            <a:chExt cx="11506200" cy="4876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506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3104" y="3734395"/>
            <a:ext cx="4286250" cy="3143250"/>
            <a:chOff x="0" y="0"/>
            <a:chExt cx="5715000" cy="41910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715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34504" y="7277695"/>
            <a:ext cx="4257675" cy="914400"/>
            <a:chOff x="0" y="0"/>
            <a:chExt cx="5676900" cy="1219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6769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706479" y="7277695"/>
            <a:ext cx="4257675" cy="914400"/>
            <a:chOff x="0" y="0"/>
            <a:chExt cx="5676900" cy="12192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56769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34504" y="8306395"/>
            <a:ext cx="4257675" cy="914400"/>
            <a:chOff x="0" y="0"/>
            <a:chExt cx="5676900" cy="12192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6769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706479" y="8306395"/>
            <a:ext cx="4257675" cy="914400"/>
            <a:chOff x="0" y="0"/>
            <a:chExt cx="5676900" cy="12192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6769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421354" y="2977158"/>
            <a:ext cx="428625" cy="342900"/>
            <a:chOff x="0" y="0"/>
            <a:chExt cx="571500" cy="4572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21354" y="3505795"/>
            <a:ext cx="8629650" cy="5143500"/>
            <a:chOff x="0" y="0"/>
            <a:chExt cx="11506200" cy="68580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1506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972" r="0" b="-97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49954" y="3734395"/>
            <a:ext cx="8172450" cy="571500"/>
            <a:chOff x="0" y="0"/>
            <a:chExt cx="10896600" cy="7620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0896600" cy="762000"/>
            </a:xfrm>
            <a:custGeom>
              <a:avLst/>
              <a:gdLst/>
              <a:ahLst/>
              <a:cxnLst/>
              <a:rect r="r" b="b" t="t" l="l"/>
              <a:pathLst>
                <a:path h="7620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250" r="0" b="-125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49954" y="4305895"/>
            <a:ext cx="8172450" cy="685800"/>
            <a:chOff x="0" y="0"/>
            <a:chExt cx="10896600" cy="9144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896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49954" y="4991695"/>
            <a:ext cx="8172450" cy="685800"/>
            <a:chOff x="0" y="0"/>
            <a:chExt cx="10896600" cy="914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0896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49954" y="5677495"/>
            <a:ext cx="8172450" cy="685800"/>
            <a:chOff x="0" y="0"/>
            <a:chExt cx="10896600" cy="9144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10896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49954" y="6363295"/>
            <a:ext cx="8172450" cy="685800"/>
            <a:chOff x="0" y="0"/>
            <a:chExt cx="10896600" cy="9144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10896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49954" y="7049095"/>
            <a:ext cx="8172450" cy="685800"/>
            <a:chOff x="0" y="0"/>
            <a:chExt cx="10896600" cy="9144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08966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334504" y="2305645"/>
            <a:ext cx="21259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Random Forest model achieved </a:t>
            </a:r>
            <a:r>
              <a:rPr lang="en-US" sz="225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94.75% accuracy</a:t>
            </a: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sz="225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97.31% ROC-AUC</a:t>
            </a: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, outperforming the logistic regression baseline.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34567" y="2877145"/>
            <a:ext cx="86296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Confusion Matrix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48804" y="7344370"/>
            <a:ext cx="402907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True Negatives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8804" y="7620595"/>
            <a:ext cx="40290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278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820779" y="7344370"/>
            <a:ext cx="402907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True Positives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820779" y="7620595"/>
            <a:ext cx="40290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129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48804" y="8373070"/>
            <a:ext cx="402907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False Negatives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8804" y="8649295"/>
            <a:ext cx="40290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15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820779" y="8373070"/>
            <a:ext cx="402907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False Positives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820779" y="8649295"/>
            <a:ext cx="40290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CA8A04"/>
                </a:solidFill>
                <a:latin typeface="Arimo Bold"/>
                <a:ea typeface="Arimo Bold"/>
                <a:cs typeface="Arimo Bold"/>
                <a:sym typeface="Arimo Bold"/>
              </a:rPr>
              <a:t>8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964279" y="2877145"/>
            <a:ext cx="86296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Metrics Comparison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664242" y="3658195"/>
            <a:ext cx="246526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Metric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865700" y="3658195"/>
            <a:ext cx="299421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Random Forest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289195" y="3658195"/>
            <a:ext cx="385441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64242" y="4229695"/>
            <a:ext cx="24652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115218" y="4229695"/>
            <a:ext cx="24951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94.75%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610396" y="4229695"/>
            <a:ext cx="32120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89.3%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664242" y="4915495"/>
            <a:ext cx="24652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ROC-AUC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115218" y="4915495"/>
            <a:ext cx="24951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97.31%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610396" y="4915495"/>
            <a:ext cx="32120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88.5%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664242" y="5601295"/>
            <a:ext cx="29583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Precision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15218" y="5601295"/>
            <a:ext cx="24951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92.3%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610396" y="5601295"/>
            <a:ext cx="32120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87.1%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664242" y="6287095"/>
            <a:ext cx="24652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Recall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115218" y="6287095"/>
            <a:ext cx="24951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89.7%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610396" y="6287095"/>
            <a:ext cx="32120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82.4%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664242" y="6972895"/>
            <a:ext cx="24652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F1-Score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115218" y="6972895"/>
            <a:ext cx="24951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90.9%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610396" y="6972895"/>
            <a:ext cx="32120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84.6%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664242" y="7658695"/>
            <a:ext cx="295831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Prediction Speed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115218" y="7658695"/>
            <a:ext cx="24951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15ms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610396" y="7658695"/>
            <a:ext cx="321200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8ms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34504" y="1686520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Model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94146" y="1591566"/>
            <a:ext cx="10332541" cy="7772400"/>
            <a:chOff x="0" y="0"/>
            <a:chExt cx="13776722" cy="10363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3776706" cy="10363200"/>
            </a:xfrm>
            <a:custGeom>
              <a:avLst/>
              <a:gdLst/>
              <a:ahLst/>
              <a:cxnLst/>
              <a:rect r="r" b="b" t="t" l="l"/>
              <a:pathLst>
                <a:path h="10363200" w="13776706">
                  <a:moveTo>
                    <a:pt x="0" y="0"/>
                  </a:moveTo>
                  <a:lnTo>
                    <a:pt x="13776706" y="0"/>
                  </a:lnTo>
                  <a:lnTo>
                    <a:pt x="13776706" y="10363200"/>
                  </a:lnTo>
                  <a:lnTo>
                    <a:pt x="0" y="1036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" r="0" b="-1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2746" y="1877316"/>
            <a:ext cx="285750" cy="285750"/>
            <a:chOff x="0" y="0"/>
            <a:chExt cx="381000" cy="381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22746" y="2334516"/>
            <a:ext cx="9872662" cy="6100762"/>
            <a:chOff x="0" y="0"/>
            <a:chExt cx="13163550" cy="813435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3163550" cy="8134350"/>
            </a:xfrm>
            <a:custGeom>
              <a:avLst/>
              <a:gdLst/>
              <a:ahLst/>
              <a:cxnLst/>
              <a:rect r="r" b="b" t="t" l="l"/>
              <a:pathLst>
                <a:path h="8134350" w="13163550">
                  <a:moveTo>
                    <a:pt x="0" y="0"/>
                  </a:moveTo>
                  <a:lnTo>
                    <a:pt x="13163550" y="0"/>
                  </a:lnTo>
                  <a:lnTo>
                    <a:pt x="13163550" y="8134350"/>
                  </a:lnTo>
                  <a:lnTo>
                    <a:pt x="0" y="813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083887" y="1591566"/>
            <a:ext cx="6812235" cy="3829050"/>
            <a:chOff x="0" y="0"/>
            <a:chExt cx="9082980" cy="5105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9083040" cy="5105400"/>
            </a:xfrm>
            <a:custGeom>
              <a:avLst/>
              <a:gdLst/>
              <a:ahLst/>
              <a:cxnLst/>
              <a:rect r="r" b="b" t="t" l="l"/>
              <a:pathLst>
                <a:path h="5105400" w="9083040">
                  <a:moveTo>
                    <a:pt x="0" y="0"/>
                  </a:moveTo>
                  <a:lnTo>
                    <a:pt x="9083040" y="0"/>
                  </a:lnTo>
                  <a:lnTo>
                    <a:pt x="9083040" y="5105400"/>
                  </a:lnTo>
                  <a:lnTo>
                    <a:pt x="0" y="510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821" r="0" b="-382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312487" y="1877316"/>
            <a:ext cx="285750" cy="285750"/>
            <a:chOff x="0" y="0"/>
            <a:chExt cx="381000" cy="381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312487" y="2391666"/>
            <a:ext cx="6355035" cy="1314450"/>
            <a:chOff x="0" y="0"/>
            <a:chExt cx="8473380" cy="17526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473440" cy="1752600"/>
            </a:xfrm>
            <a:custGeom>
              <a:avLst/>
              <a:gdLst/>
              <a:ahLst/>
              <a:cxnLst/>
              <a:rect r="r" b="b" t="t" l="l"/>
              <a:pathLst>
                <a:path h="1752600" w="8473440">
                  <a:moveTo>
                    <a:pt x="0" y="0"/>
                  </a:moveTo>
                  <a:lnTo>
                    <a:pt x="8473440" y="0"/>
                  </a:lnTo>
                  <a:lnTo>
                    <a:pt x="847344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9" r="0" b="-8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483937" y="2605978"/>
            <a:ext cx="200025" cy="257175"/>
            <a:chOff x="0" y="0"/>
            <a:chExt cx="266700" cy="3429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66700" cy="342900"/>
            </a:xfrm>
            <a:custGeom>
              <a:avLst/>
              <a:gdLst/>
              <a:ahLst/>
              <a:cxnLst/>
              <a:rect r="r" b="b" t="t" l="l"/>
              <a:pathLst>
                <a:path h="3429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312487" y="3934716"/>
            <a:ext cx="6355035" cy="1028700"/>
            <a:chOff x="0" y="0"/>
            <a:chExt cx="8473380" cy="13716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84734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473440">
                  <a:moveTo>
                    <a:pt x="0" y="0"/>
                  </a:moveTo>
                  <a:lnTo>
                    <a:pt x="8473440" y="0"/>
                  </a:lnTo>
                  <a:lnTo>
                    <a:pt x="847344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4003" r="0" b="-14003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483937" y="4149028"/>
            <a:ext cx="257175" cy="257175"/>
            <a:chOff x="0" y="0"/>
            <a:chExt cx="342900" cy="3429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083887" y="5649216"/>
            <a:ext cx="6812235" cy="1771650"/>
            <a:chOff x="0" y="0"/>
            <a:chExt cx="9082980" cy="23622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083040" cy="2362200"/>
            </a:xfrm>
            <a:custGeom>
              <a:avLst/>
              <a:gdLst/>
              <a:ahLst/>
              <a:cxnLst/>
              <a:rect r="r" b="b" t="t" l="l"/>
              <a:pathLst>
                <a:path h="2362200" w="9083040">
                  <a:moveTo>
                    <a:pt x="0" y="0"/>
                  </a:moveTo>
                  <a:lnTo>
                    <a:pt x="9083040" y="0"/>
                  </a:lnTo>
                  <a:lnTo>
                    <a:pt x="908304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891" r="0" b="-89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312487" y="5920678"/>
            <a:ext cx="228600" cy="228600"/>
            <a:chOff x="0" y="0"/>
            <a:chExt cx="304800" cy="304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22796" y="1763016"/>
            <a:ext cx="1185041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Top 10 Most Important Features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12537" y="1763016"/>
            <a:ext cx="635503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Key Predictors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98262" y="2486916"/>
            <a:ext cx="721456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 MMSE Score (18.2%)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83937" y="2915541"/>
            <a:ext cx="601213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Lower scores indicate higher risk. Clinically validated cognitive assessment.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855412" y="4029966"/>
            <a:ext cx="721456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 Functional Assessment (15.6%)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83937" y="4458591"/>
            <a:ext cx="72145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Measures daily activities capability. Strong predictor of risk.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55387" y="5801616"/>
            <a:ext cx="635503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 Why This Matters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2487" y="6287391"/>
            <a:ext cx="635503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Feature importance helps identify which clinical factors most influence risk prediction. These factors have clinical validity and can be used for early intervention.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7200" y="2228850"/>
            <a:ext cx="8458200" cy="4171950"/>
            <a:chOff x="0" y="0"/>
            <a:chExt cx="11277600" cy="55626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277600" cy="5562600"/>
            </a:xfrm>
            <a:custGeom>
              <a:avLst/>
              <a:gdLst/>
              <a:ahLst/>
              <a:cxnLst/>
              <a:rect r="r" b="b" t="t" l="l"/>
              <a:pathLst>
                <a:path h="55626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5562600"/>
                  </a:lnTo>
                  <a:lnTo>
                    <a:pt x="0" y="556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0100" y="2571750"/>
            <a:ext cx="428625" cy="514350"/>
            <a:chOff x="0" y="0"/>
            <a:chExt cx="571500" cy="685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00100" y="3943350"/>
            <a:ext cx="7772400" cy="1885950"/>
            <a:chOff x="0" y="0"/>
            <a:chExt cx="10363200" cy="25146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3632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8700" y="4257675"/>
            <a:ext cx="228600" cy="228600"/>
            <a:chOff x="0" y="0"/>
            <a:chExt cx="304800" cy="304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7200" y="6743700"/>
            <a:ext cx="8458200" cy="2400300"/>
            <a:chOff x="0" y="0"/>
            <a:chExt cx="11277600" cy="32004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12776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00100" y="7086600"/>
            <a:ext cx="428625" cy="514350"/>
            <a:chOff x="0" y="0"/>
            <a:chExt cx="571500" cy="6858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00100" y="7886700"/>
            <a:ext cx="257175" cy="228600"/>
            <a:chOff x="0" y="0"/>
            <a:chExt cx="342900" cy="304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00100" y="8458200"/>
            <a:ext cx="200025" cy="228600"/>
            <a:chOff x="0" y="0"/>
            <a:chExt cx="266700" cy="304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72600" y="2228850"/>
            <a:ext cx="8458200" cy="7543800"/>
            <a:chOff x="0" y="0"/>
            <a:chExt cx="11277600" cy="100584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12776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0058400"/>
                  </a:lnTo>
                  <a:lnTo>
                    <a:pt x="0" y="1005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15500" y="2571750"/>
            <a:ext cx="542925" cy="514350"/>
            <a:chOff x="0" y="0"/>
            <a:chExt cx="723900" cy="685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723900" cy="685800"/>
            </a:xfrm>
            <a:custGeom>
              <a:avLst/>
              <a:gdLst/>
              <a:ahLst/>
              <a:cxnLst/>
              <a:rect r="r" b="b" t="t" l="l"/>
              <a:pathLst>
                <a:path h="6858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715500" y="3429000"/>
            <a:ext cx="3771900" cy="1371600"/>
            <a:chOff x="0" y="0"/>
            <a:chExt cx="5029200" cy="1828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0" y="3429000"/>
            <a:ext cx="3771900" cy="1371600"/>
            <a:chOff x="0" y="0"/>
            <a:chExt cx="5029200" cy="18288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15500" y="5029200"/>
            <a:ext cx="3771900" cy="1371600"/>
            <a:chOff x="0" y="0"/>
            <a:chExt cx="5029200" cy="18288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716000" y="5029200"/>
            <a:ext cx="3771900" cy="1371600"/>
            <a:chOff x="0" y="0"/>
            <a:chExt cx="5029200" cy="18288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02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15500" y="6743700"/>
            <a:ext cx="7772400" cy="1371600"/>
            <a:chOff x="0" y="0"/>
            <a:chExt cx="10363200" cy="18288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036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944100" y="7572375"/>
            <a:ext cx="228600" cy="228600"/>
            <a:chOff x="0" y="0"/>
            <a:chExt cx="304800" cy="3048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457200" y="1695450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Model Optimization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00175" y="2543175"/>
            <a:ext cx="31897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GridSearchCV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00100" y="3238500"/>
            <a:ext cx="93268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Hyperparameter tuning with 5-fold cross-validation.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71600" y="4114800"/>
            <a:ext cx="143053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Results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4667250"/>
            <a:ext cx="877824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96.98% ± 0.43%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8700" y="5181600"/>
            <a:ext cx="73152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Accuracy across all folds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0175" y="7058025"/>
            <a:ext cx="45581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SHAP Explainability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1575" y="7753350"/>
            <a:ext cx="456164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Waterfall plots for predictions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14425" y="8324850"/>
            <a:ext cx="554935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Force plots for feature contributions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429875" y="2543175"/>
            <a:ext cx="385789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Best Parameters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886950" y="3524250"/>
            <a:ext cx="3429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n_estimators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886950" y="3886200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200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886950" y="4295775"/>
            <a:ext cx="4114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Trees in forest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887450" y="3524250"/>
            <a:ext cx="3429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max_depth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87450" y="3886200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20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887450" y="4295775"/>
            <a:ext cx="4114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Tree depth limit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886950" y="5124450"/>
            <a:ext cx="4114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min_samples_split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886950" y="5486400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CA8A04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886950" y="5895975"/>
            <a:ext cx="4114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Split threshold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887450" y="5124450"/>
            <a:ext cx="3429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class_weight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887450" y="5486400"/>
            <a:ext cx="3429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balanced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887450" y="5895975"/>
            <a:ext cx="4114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Handle imbalance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944100" y="6915150"/>
            <a:ext cx="73152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Benefits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87000" y="7410450"/>
            <a:ext cx="441724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Transparent model decisions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7200" y="3000375"/>
            <a:ext cx="3657600" cy="2000250"/>
            <a:chOff x="0" y="0"/>
            <a:chExt cx="4876800" cy="26670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876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28" r="0" b="-142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2950" y="3286125"/>
            <a:ext cx="485775" cy="514350"/>
            <a:chOff x="0" y="0"/>
            <a:chExt cx="647700" cy="685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647700" cy="685800"/>
            </a:xfrm>
            <a:custGeom>
              <a:avLst/>
              <a:gdLst/>
              <a:ahLst/>
              <a:cxnLst/>
              <a:rect r="r" b="b" t="t" l="l"/>
              <a:pathLst>
                <a:path h="6858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42950" y="4014788"/>
            <a:ext cx="228600" cy="228600"/>
            <a:chOff x="0" y="0"/>
            <a:chExt cx="304800" cy="3048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42950" y="4414838"/>
            <a:ext cx="228600" cy="228600"/>
            <a:chOff x="0" y="0"/>
            <a:chExt cx="304800" cy="304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29200" y="3000375"/>
            <a:ext cx="3657600" cy="2000250"/>
            <a:chOff x="0" y="0"/>
            <a:chExt cx="4876800" cy="2667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876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428" r="0" b="-142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14950" y="3286125"/>
            <a:ext cx="428625" cy="514350"/>
            <a:chOff x="0" y="0"/>
            <a:chExt cx="571500" cy="6858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314950" y="4014788"/>
            <a:ext cx="228600" cy="228600"/>
            <a:chOff x="0" y="0"/>
            <a:chExt cx="304800" cy="304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314950" y="4414838"/>
            <a:ext cx="228600" cy="228600"/>
            <a:chOff x="0" y="0"/>
            <a:chExt cx="304800" cy="304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0" y="3000375"/>
            <a:ext cx="3657600" cy="2000250"/>
            <a:chOff x="0" y="0"/>
            <a:chExt cx="4876800" cy="26670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876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428" r="0" b="-142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86950" y="3286125"/>
            <a:ext cx="428625" cy="514350"/>
            <a:chOff x="0" y="0"/>
            <a:chExt cx="571500" cy="685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86950" y="4014788"/>
            <a:ext cx="228600" cy="228600"/>
            <a:chOff x="0" y="0"/>
            <a:chExt cx="304800" cy="304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86950" y="4414838"/>
            <a:ext cx="228600" cy="228600"/>
            <a:chOff x="0" y="0"/>
            <a:chExt cx="304800" cy="3048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173200" y="3000375"/>
            <a:ext cx="3657600" cy="2000250"/>
            <a:chOff x="0" y="0"/>
            <a:chExt cx="4876800" cy="26670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4876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428" r="0" b="-1428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458950" y="3286125"/>
            <a:ext cx="542925" cy="514350"/>
            <a:chOff x="0" y="0"/>
            <a:chExt cx="723900" cy="6858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723900" cy="685800"/>
            </a:xfrm>
            <a:custGeom>
              <a:avLst/>
              <a:gdLst/>
              <a:ahLst/>
              <a:cxnLst/>
              <a:rect r="r" b="b" t="t" l="l"/>
              <a:pathLst>
                <a:path h="6858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458950" y="4014788"/>
            <a:ext cx="228600" cy="228600"/>
            <a:chOff x="0" y="0"/>
            <a:chExt cx="304800" cy="3048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458950" y="4414838"/>
            <a:ext cx="228600" cy="228600"/>
            <a:chOff x="0" y="0"/>
            <a:chExt cx="304800" cy="3048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029075" y="4000500"/>
            <a:ext cx="1714500" cy="28575"/>
            <a:chOff x="0" y="0"/>
            <a:chExt cx="2286000" cy="381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22860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29575" y="4000500"/>
            <a:ext cx="1714500" cy="28575"/>
            <a:chOff x="0" y="0"/>
            <a:chExt cx="2286000" cy="381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22860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030075" y="4000500"/>
            <a:ext cx="1714500" cy="28575"/>
            <a:chOff x="0" y="0"/>
            <a:chExt cx="2286000" cy="381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22860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57200" y="5457825"/>
            <a:ext cx="17373600" cy="2514600"/>
            <a:chOff x="0" y="0"/>
            <a:chExt cx="23164800" cy="33528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231648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00100" y="6943725"/>
            <a:ext cx="200025" cy="228600"/>
            <a:chOff x="0" y="0"/>
            <a:chExt cx="266700" cy="3048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00100" y="7343775"/>
            <a:ext cx="228600" cy="228600"/>
            <a:chOff x="0" y="0"/>
            <a:chExt cx="304800" cy="3048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029200" y="6943725"/>
            <a:ext cx="200025" cy="228600"/>
            <a:chOff x="0" y="0"/>
            <a:chExt cx="266700" cy="3048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029200" y="7343775"/>
            <a:ext cx="285750" cy="228600"/>
            <a:chOff x="0" y="0"/>
            <a:chExt cx="381000" cy="3048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258300" y="6943725"/>
            <a:ext cx="228600" cy="228600"/>
            <a:chOff x="0" y="0"/>
            <a:chExt cx="304800" cy="3048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258300" y="7343775"/>
            <a:ext cx="257175" cy="228600"/>
            <a:chOff x="0" y="0"/>
            <a:chExt cx="342900" cy="30480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342900" cy="304800"/>
            </a:xfrm>
            <a:custGeom>
              <a:avLst/>
              <a:gdLst/>
              <a:ahLst/>
              <a:cxnLst/>
              <a:rect r="r" b="b" t="t" l="l"/>
              <a:pathLst>
                <a:path h="3048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487400" y="6943725"/>
            <a:ext cx="171450" cy="228600"/>
            <a:chOff x="0" y="0"/>
            <a:chExt cx="228600" cy="30480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457200" y="2162175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Application Architecture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00175" y="3286125"/>
            <a:ext cx="174718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00100" y="389572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Dash/Bootstrap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800100" y="429577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32-field form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915025" y="3286125"/>
            <a:ext cx="16370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372100" y="389572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Python + Callbacks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372100" y="429577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SHAP integration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487025" y="3286125"/>
            <a:ext cx="20557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ML Models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944100" y="389572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Random Forest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944100" y="429577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Logistic Regression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173325" y="3286125"/>
            <a:ext cx="233734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Deployment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516100" y="3895725"/>
            <a:ext cx="33718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Render.com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516100" y="4295775"/>
            <a:ext cx="4046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DigitalOcean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00100" y="5743575"/>
            <a:ext cx="16687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00100" y="6353175"/>
            <a:ext cx="4000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14425" y="6810375"/>
            <a:ext cx="162395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Dash 2.14+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43000" y="7210425"/>
            <a:ext cx="7557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Plotly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029200" y="6353175"/>
            <a:ext cx="4000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43525" y="6810375"/>
            <a:ext cx="170431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Python 3.9+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429250" y="7210425"/>
            <a:ext cx="70401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Flask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258300" y="6353175"/>
            <a:ext cx="4000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CA8A04"/>
                </a:solidFill>
                <a:latin typeface="Arimo Bold"/>
                <a:ea typeface="Arimo Bold"/>
                <a:cs typeface="Arimo Bold"/>
                <a:sym typeface="Arimo Bold"/>
              </a:rPr>
              <a:t>ML &amp; AI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601200" y="6810375"/>
            <a:ext cx="229100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Scikit-learn 1.3+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629775" y="7210425"/>
            <a:ext cx="166145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SHAP 0.43+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487400" y="6353175"/>
            <a:ext cx="4000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9333EA"/>
                </a:solidFill>
                <a:latin typeface="Arimo Bold"/>
                <a:ea typeface="Arimo Bold"/>
                <a:cs typeface="Arimo Bold"/>
                <a:sym typeface="Arimo Bold"/>
              </a:rPr>
              <a:t>Deployment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773150" y="6810375"/>
            <a:ext cx="22816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Procfile (Render)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601700" y="7210425"/>
            <a:ext cx="200596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app.yaml (DO)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93363" y="2934591"/>
            <a:ext cx="5676825" cy="3000375"/>
            <a:chOff x="0" y="0"/>
            <a:chExt cx="7569100" cy="40005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569073" cy="4000500"/>
            </a:xfrm>
            <a:custGeom>
              <a:avLst/>
              <a:gdLst/>
              <a:ahLst/>
              <a:cxnLst/>
              <a:rect r="r" b="b" t="t" l="l"/>
              <a:pathLst>
                <a:path h="4000500" w="7569073">
                  <a:moveTo>
                    <a:pt x="0" y="0"/>
                  </a:moveTo>
                  <a:lnTo>
                    <a:pt x="7569073" y="0"/>
                  </a:lnTo>
                  <a:lnTo>
                    <a:pt x="7569073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94" r="0" b="-99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74477" y="3163191"/>
            <a:ext cx="714375" cy="714375"/>
            <a:chOff x="0" y="0"/>
            <a:chExt cx="952500" cy="9525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67357" y="3263203"/>
            <a:ext cx="328612" cy="514350"/>
            <a:chOff x="0" y="0"/>
            <a:chExt cx="438150" cy="6858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438150" cy="685800"/>
            </a:xfrm>
            <a:custGeom>
              <a:avLst/>
              <a:gdLst/>
              <a:ahLst/>
              <a:cxnLst/>
              <a:rect r="r" b="b" t="t" l="l"/>
              <a:pathLst>
                <a:path h="6858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21963" y="4606228"/>
            <a:ext cx="228600" cy="228600"/>
            <a:chOff x="0" y="0"/>
            <a:chExt cx="304800" cy="304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21963" y="5006278"/>
            <a:ext cx="228600" cy="228600"/>
            <a:chOff x="0" y="0"/>
            <a:chExt cx="304800" cy="3048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21963" y="5406328"/>
            <a:ext cx="228600" cy="228600"/>
            <a:chOff x="0" y="0"/>
            <a:chExt cx="304800" cy="3048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255938" y="2934591"/>
            <a:ext cx="5676825" cy="3000375"/>
            <a:chOff x="0" y="0"/>
            <a:chExt cx="7569100" cy="40005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569073" cy="4000500"/>
            </a:xfrm>
            <a:custGeom>
              <a:avLst/>
              <a:gdLst/>
              <a:ahLst/>
              <a:cxnLst/>
              <a:rect r="r" b="b" t="t" l="l"/>
              <a:pathLst>
                <a:path h="4000500" w="7569073">
                  <a:moveTo>
                    <a:pt x="0" y="0"/>
                  </a:moveTo>
                  <a:lnTo>
                    <a:pt x="7569073" y="0"/>
                  </a:lnTo>
                  <a:lnTo>
                    <a:pt x="7569073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994" r="0" b="-994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737052" y="3163191"/>
            <a:ext cx="714375" cy="714375"/>
            <a:chOff x="0" y="0"/>
            <a:chExt cx="952500" cy="9525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879926" y="3263203"/>
            <a:ext cx="428625" cy="514350"/>
            <a:chOff x="0" y="0"/>
            <a:chExt cx="571500" cy="6858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84538" y="4606228"/>
            <a:ext cx="228600" cy="228600"/>
            <a:chOff x="0" y="0"/>
            <a:chExt cx="304800" cy="304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484538" y="5006278"/>
            <a:ext cx="228600" cy="228600"/>
            <a:chOff x="0" y="0"/>
            <a:chExt cx="304800" cy="304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84538" y="5406328"/>
            <a:ext cx="228600" cy="228600"/>
            <a:chOff x="0" y="0"/>
            <a:chExt cx="304800" cy="3048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218514" y="2934591"/>
            <a:ext cx="5677048" cy="3000375"/>
            <a:chOff x="0" y="0"/>
            <a:chExt cx="7569398" cy="40005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7569454" cy="4000500"/>
            </a:xfrm>
            <a:custGeom>
              <a:avLst/>
              <a:gdLst/>
              <a:ahLst/>
              <a:cxnLst/>
              <a:rect r="r" b="b" t="t" l="l"/>
              <a:pathLst>
                <a:path h="4000500" w="7569454">
                  <a:moveTo>
                    <a:pt x="0" y="0"/>
                  </a:moveTo>
                  <a:lnTo>
                    <a:pt x="7569454" y="0"/>
                  </a:lnTo>
                  <a:lnTo>
                    <a:pt x="7569454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996" r="0" b="-99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99850" y="3163191"/>
            <a:ext cx="714375" cy="714375"/>
            <a:chOff x="0" y="0"/>
            <a:chExt cx="952500" cy="9525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785575" y="3263203"/>
            <a:ext cx="542925" cy="514350"/>
            <a:chOff x="0" y="0"/>
            <a:chExt cx="723900" cy="6858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723900" cy="685800"/>
            </a:xfrm>
            <a:custGeom>
              <a:avLst/>
              <a:gdLst/>
              <a:ahLst/>
              <a:cxnLst/>
              <a:rect r="r" b="b" t="t" l="l"/>
              <a:pathLst>
                <a:path h="6858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447114" y="4606228"/>
            <a:ext cx="228600" cy="228600"/>
            <a:chOff x="0" y="0"/>
            <a:chExt cx="304800" cy="3048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447114" y="5006278"/>
            <a:ext cx="228600" cy="228600"/>
            <a:chOff x="0" y="0"/>
            <a:chExt cx="304800" cy="3048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447114" y="5406328"/>
            <a:ext cx="228600" cy="228600"/>
            <a:chOff x="0" y="0"/>
            <a:chExt cx="304800" cy="3048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293363" y="6220716"/>
            <a:ext cx="5676825" cy="3000375"/>
            <a:chOff x="0" y="0"/>
            <a:chExt cx="7569100" cy="40005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7569073" cy="4000500"/>
            </a:xfrm>
            <a:custGeom>
              <a:avLst/>
              <a:gdLst/>
              <a:ahLst/>
              <a:cxnLst/>
              <a:rect r="r" b="b" t="t" l="l"/>
              <a:pathLst>
                <a:path h="4000500" w="7569073">
                  <a:moveTo>
                    <a:pt x="0" y="0"/>
                  </a:moveTo>
                  <a:lnTo>
                    <a:pt x="7569073" y="0"/>
                  </a:lnTo>
                  <a:lnTo>
                    <a:pt x="7569073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994" r="0" b="-994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774477" y="6449316"/>
            <a:ext cx="714375" cy="714375"/>
            <a:chOff x="0" y="0"/>
            <a:chExt cx="952500" cy="9525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967357" y="6549328"/>
            <a:ext cx="328612" cy="514350"/>
            <a:chOff x="0" y="0"/>
            <a:chExt cx="438150" cy="6858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438150" cy="685800"/>
            </a:xfrm>
            <a:custGeom>
              <a:avLst/>
              <a:gdLst/>
              <a:ahLst/>
              <a:cxnLst/>
              <a:rect r="r" b="b" t="t" l="l"/>
              <a:pathLst>
                <a:path h="6858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21963" y="7892353"/>
            <a:ext cx="228600" cy="228600"/>
            <a:chOff x="0" y="0"/>
            <a:chExt cx="304800" cy="3048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21963" y="8292403"/>
            <a:ext cx="228600" cy="228600"/>
            <a:chOff x="0" y="0"/>
            <a:chExt cx="304800" cy="3048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21963" y="8692453"/>
            <a:ext cx="228600" cy="228600"/>
            <a:chOff x="0" y="0"/>
            <a:chExt cx="304800" cy="3048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255938" y="6220716"/>
            <a:ext cx="5676825" cy="3000375"/>
            <a:chOff x="0" y="0"/>
            <a:chExt cx="7569100" cy="40005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7569073" cy="4000500"/>
            </a:xfrm>
            <a:custGeom>
              <a:avLst/>
              <a:gdLst/>
              <a:ahLst/>
              <a:cxnLst/>
              <a:rect r="r" b="b" t="t" l="l"/>
              <a:pathLst>
                <a:path h="4000500" w="7569073">
                  <a:moveTo>
                    <a:pt x="0" y="0"/>
                  </a:moveTo>
                  <a:lnTo>
                    <a:pt x="7569073" y="0"/>
                  </a:lnTo>
                  <a:lnTo>
                    <a:pt x="7569073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994" r="0" b="-994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737052" y="6449316"/>
            <a:ext cx="714375" cy="714375"/>
            <a:chOff x="0" y="0"/>
            <a:chExt cx="952500" cy="95250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908502" y="6549328"/>
            <a:ext cx="371475" cy="514350"/>
            <a:chOff x="0" y="0"/>
            <a:chExt cx="495300" cy="68580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495300" cy="685800"/>
            </a:xfrm>
            <a:custGeom>
              <a:avLst/>
              <a:gdLst/>
              <a:ahLst/>
              <a:cxnLst/>
              <a:rect r="r" b="b" t="t" l="l"/>
              <a:pathLst>
                <a:path h="6858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84538" y="7892353"/>
            <a:ext cx="228600" cy="228600"/>
            <a:chOff x="0" y="0"/>
            <a:chExt cx="304800" cy="30480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484538" y="8292403"/>
            <a:ext cx="228600" cy="228600"/>
            <a:chOff x="0" y="0"/>
            <a:chExt cx="304800" cy="304800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84538" y="8692453"/>
            <a:ext cx="228600" cy="228600"/>
            <a:chOff x="0" y="0"/>
            <a:chExt cx="304800" cy="30480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218514" y="6220716"/>
            <a:ext cx="5677048" cy="3000375"/>
            <a:chOff x="0" y="0"/>
            <a:chExt cx="7569398" cy="4000500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7569454" cy="4000500"/>
            </a:xfrm>
            <a:custGeom>
              <a:avLst/>
              <a:gdLst/>
              <a:ahLst/>
              <a:cxnLst/>
              <a:rect r="r" b="b" t="t" l="l"/>
              <a:pathLst>
                <a:path h="4000500" w="7569454">
                  <a:moveTo>
                    <a:pt x="0" y="0"/>
                  </a:moveTo>
                  <a:lnTo>
                    <a:pt x="7569454" y="0"/>
                  </a:lnTo>
                  <a:lnTo>
                    <a:pt x="7569454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996" r="0" b="-99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699850" y="6449316"/>
            <a:ext cx="714375" cy="714375"/>
            <a:chOff x="0" y="0"/>
            <a:chExt cx="952500" cy="952500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842725" y="6549328"/>
            <a:ext cx="428625" cy="514350"/>
            <a:chOff x="0" y="0"/>
            <a:chExt cx="571500" cy="685800"/>
          </a:xfrm>
        </p:grpSpPr>
        <p:sp>
          <p:nvSpPr>
            <p:cNvPr name="Freeform 87" id="87" descr="preencoded.png"/>
            <p:cNvSpPr/>
            <p:nvPr/>
          </p:nvSpPr>
          <p:spPr>
            <a:xfrm flipH="false" flipV="false" rot="0">
              <a:off x="0" y="0"/>
              <a:ext cx="571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447114" y="7892353"/>
            <a:ext cx="228600" cy="228600"/>
            <a:chOff x="0" y="0"/>
            <a:chExt cx="304800" cy="304800"/>
          </a:xfrm>
        </p:grpSpPr>
        <p:sp>
          <p:nvSpPr>
            <p:cNvPr name="Freeform 89" id="8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47114" y="8292403"/>
            <a:ext cx="228600" cy="228600"/>
            <a:chOff x="0" y="0"/>
            <a:chExt cx="304800" cy="304800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447114" y="8692453"/>
            <a:ext cx="228600" cy="228600"/>
            <a:chOff x="0" y="0"/>
            <a:chExt cx="304800" cy="304800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521963" y="1917029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Core Features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0" y="3991866"/>
            <a:ext cx="62635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Real-time Risk Prediction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79113" y="4487166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32-field clinical assessment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79113" y="4887216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Instant prediction in 15ms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79113" y="5287266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4-tier risk stratification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962575" y="3991866"/>
            <a:ext cx="62635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SHAP Explainability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541688" y="4487166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Waterfall plots showing contributions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541688" y="4887216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Individual prediction breakdowns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541688" y="5287266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Force plots for visual interpretation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925129" y="3991866"/>
            <a:ext cx="626381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AI Medical Chatbot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504264" y="4487166"/>
            <a:ext cx="66067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Google Gemini 1.5 Flash integration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504264" y="4887216"/>
            <a:ext cx="66067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Context-aware medical assistant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504264" y="5287266"/>
            <a:ext cx="66067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Real-time patient query responses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21963" y="7277991"/>
            <a:ext cx="52196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PDF Auto-Fill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79113" y="7773291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OCR-based medical record parsing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579113" y="8173341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Automatic field population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79113" y="8573391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PyMuPDF + pytesseract integration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962575" y="7277991"/>
            <a:ext cx="62635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Clinical Reports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6541688" y="7773291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Downloadable PDF reports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541688" y="8173341"/>
            <a:ext cx="6606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Patient data + risk assessment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6541688" y="8573391"/>
            <a:ext cx="5505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SHAP plots embedded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925129" y="7277991"/>
            <a:ext cx="626381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1F2937"/>
                </a:solidFill>
                <a:latin typeface="Arimo Bold"/>
                <a:ea typeface="Arimo Bold"/>
                <a:cs typeface="Arimo Bold"/>
                <a:sym typeface="Arimo Bold"/>
              </a:rPr>
              <a:t>Dark/Light Mode UI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2504264" y="7773291"/>
            <a:ext cx="66067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Persistent user preferences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2504264" y="8173341"/>
            <a:ext cx="66067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Bootstrap-styled theme switching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2504264" y="8573391"/>
            <a:ext cx="66067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Optimized for clinical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34504" y="1695470"/>
            <a:ext cx="8686800" cy="3043238"/>
            <a:chOff x="0" y="0"/>
            <a:chExt cx="11582400" cy="405765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582400" cy="4057650"/>
            </a:xfrm>
            <a:custGeom>
              <a:avLst/>
              <a:gdLst/>
              <a:ahLst/>
              <a:cxnLst/>
              <a:rect r="r" b="b" t="t" l="l"/>
              <a:pathLst>
                <a:path h="405765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4057650"/>
                  </a:lnTo>
                  <a:lnTo>
                    <a:pt x="0" y="405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63104" y="1924070"/>
            <a:ext cx="214312" cy="400050"/>
            <a:chOff x="0" y="0"/>
            <a:chExt cx="285750" cy="5334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8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3104" y="3324245"/>
            <a:ext cx="171450" cy="171450"/>
            <a:chOff x="0" y="0"/>
            <a:chExt cx="228600" cy="2286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64204" y="1695470"/>
            <a:ext cx="8686800" cy="3043238"/>
            <a:chOff x="0" y="0"/>
            <a:chExt cx="11582400" cy="405765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582400" cy="4057650"/>
            </a:xfrm>
            <a:custGeom>
              <a:avLst/>
              <a:gdLst/>
              <a:ahLst/>
              <a:cxnLst/>
              <a:rect r="r" b="b" t="t" l="l"/>
              <a:pathLst>
                <a:path h="405765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4057650"/>
                  </a:lnTo>
                  <a:lnTo>
                    <a:pt x="0" y="405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92804" y="1924070"/>
            <a:ext cx="328612" cy="400050"/>
            <a:chOff x="0" y="0"/>
            <a:chExt cx="438150" cy="5334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438150" cy="533400"/>
            </a:xfrm>
            <a:custGeom>
              <a:avLst/>
              <a:gdLst/>
              <a:ahLst/>
              <a:cxnLst/>
              <a:rect r="r" b="b" t="t" l="l"/>
              <a:pathLst>
                <a:path h="5334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92804" y="2495570"/>
            <a:ext cx="8172450" cy="1428750"/>
            <a:chOff x="0" y="0"/>
            <a:chExt cx="10896600" cy="19050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08966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92804" y="4038620"/>
            <a:ext cx="2014538" cy="114300"/>
            <a:chOff x="0" y="0"/>
            <a:chExt cx="2686050" cy="1524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686050" cy="152400"/>
            </a:xfrm>
            <a:custGeom>
              <a:avLst/>
              <a:gdLst/>
              <a:ahLst/>
              <a:cxnLst/>
              <a:rect r="r" b="b" t="t" l="l"/>
              <a:pathLst>
                <a:path h="152400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592804" y="4038620"/>
            <a:ext cx="503634" cy="114300"/>
            <a:chOff x="0" y="0"/>
            <a:chExt cx="671512" cy="1524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671449" cy="152400"/>
            </a:xfrm>
            <a:custGeom>
              <a:avLst/>
              <a:gdLst/>
              <a:ahLst/>
              <a:cxnLst/>
              <a:rect r="r" b="b" t="t" l="l"/>
              <a:pathLst>
                <a:path h="152400" w="671449">
                  <a:moveTo>
                    <a:pt x="0" y="0"/>
                  </a:moveTo>
                  <a:lnTo>
                    <a:pt x="671449" y="0"/>
                  </a:lnTo>
                  <a:lnTo>
                    <a:pt x="671449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7" r="-9" b="-35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64492" y="4038620"/>
            <a:ext cx="2014538" cy="114300"/>
            <a:chOff x="0" y="0"/>
            <a:chExt cx="2686050" cy="1524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2686050" cy="152400"/>
            </a:xfrm>
            <a:custGeom>
              <a:avLst/>
              <a:gdLst/>
              <a:ahLst/>
              <a:cxnLst/>
              <a:rect r="r" b="b" t="t" l="l"/>
              <a:pathLst>
                <a:path h="152400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664492" y="4038620"/>
            <a:ext cx="1007270" cy="114300"/>
            <a:chOff x="0" y="0"/>
            <a:chExt cx="1343026" cy="1524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343025" cy="152400"/>
            </a:xfrm>
            <a:custGeom>
              <a:avLst/>
              <a:gdLst/>
              <a:ahLst/>
              <a:cxnLst/>
              <a:rect r="r" b="b" t="t" l="l"/>
              <a:pathLst>
                <a:path h="152400" w="1343025">
                  <a:moveTo>
                    <a:pt x="0" y="0"/>
                  </a:moveTo>
                  <a:lnTo>
                    <a:pt x="1343025" y="0"/>
                  </a:lnTo>
                  <a:lnTo>
                    <a:pt x="1343025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57" r="0" b="-35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36179" y="4038620"/>
            <a:ext cx="2014538" cy="114300"/>
            <a:chOff x="0" y="0"/>
            <a:chExt cx="2686050" cy="1524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2686050" cy="152400"/>
            </a:xfrm>
            <a:custGeom>
              <a:avLst/>
              <a:gdLst/>
              <a:ahLst/>
              <a:cxnLst/>
              <a:rect r="r" b="b" t="t" l="l"/>
              <a:pathLst>
                <a:path h="152400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36179" y="4038620"/>
            <a:ext cx="1510904" cy="114300"/>
            <a:chOff x="0" y="0"/>
            <a:chExt cx="2014538" cy="152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2014601" cy="152400"/>
            </a:xfrm>
            <a:custGeom>
              <a:avLst/>
              <a:gdLst/>
              <a:ahLst/>
              <a:cxnLst/>
              <a:rect r="r" b="b" t="t" l="l"/>
              <a:pathLst>
                <a:path h="152400" w="2014601">
                  <a:moveTo>
                    <a:pt x="0" y="0"/>
                  </a:moveTo>
                  <a:lnTo>
                    <a:pt x="2014601" y="0"/>
                  </a:lnTo>
                  <a:lnTo>
                    <a:pt x="2014601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57" r="3" b="-357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807867" y="4038620"/>
            <a:ext cx="2014538" cy="114300"/>
            <a:chOff x="0" y="0"/>
            <a:chExt cx="2686050" cy="1524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2686050" cy="152400"/>
            </a:xfrm>
            <a:custGeom>
              <a:avLst/>
              <a:gdLst/>
              <a:ahLst/>
              <a:cxnLst/>
              <a:rect r="r" b="b" t="t" l="l"/>
              <a:pathLst>
                <a:path h="152400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807867" y="4038620"/>
            <a:ext cx="1510904" cy="114300"/>
            <a:chOff x="0" y="0"/>
            <a:chExt cx="2014538" cy="1524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2014601" cy="152400"/>
            </a:xfrm>
            <a:custGeom>
              <a:avLst/>
              <a:gdLst/>
              <a:ahLst/>
              <a:cxnLst/>
              <a:rect r="r" b="b" t="t" l="l"/>
              <a:pathLst>
                <a:path h="152400" w="2014601">
                  <a:moveTo>
                    <a:pt x="0" y="0"/>
                  </a:moveTo>
                  <a:lnTo>
                    <a:pt x="2014601" y="0"/>
                  </a:lnTo>
                  <a:lnTo>
                    <a:pt x="2014601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357" r="3" b="-35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34504" y="5081608"/>
            <a:ext cx="8686800" cy="4500562"/>
            <a:chOff x="0" y="0"/>
            <a:chExt cx="11582400" cy="600075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1582400" cy="6000750"/>
            </a:xfrm>
            <a:custGeom>
              <a:avLst/>
              <a:gdLst/>
              <a:ahLst/>
              <a:cxnLst/>
              <a:rect r="r" b="b" t="t" l="l"/>
              <a:pathLst>
                <a:path h="600075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6000750"/>
                  </a:lnTo>
                  <a:lnTo>
                    <a:pt x="0" y="600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317" r="0" b="-31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63104" y="5310208"/>
            <a:ext cx="328612" cy="400050"/>
            <a:chOff x="0" y="0"/>
            <a:chExt cx="438150" cy="5334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438150" cy="533400"/>
            </a:xfrm>
            <a:custGeom>
              <a:avLst/>
              <a:gdLst/>
              <a:ahLst/>
              <a:cxnLst/>
              <a:rect r="r" b="b" t="t" l="l"/>
              <a:pathLst>
                <a:path h="5334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63104" y="5881708"/>
            <a:ext cx="8172450" cy="3400425"/>
            <a:chOff x="0" y="0"/>
            <a:chExt cx="10896600" cy="45339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108966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10896600">
                  <a:moveTo>
                    <a:pt x="0" y="0"/>
                  </a:moveTo>
                  <a:lnTo>
                    <a:pt x="10896600" y="0"/>
                  </a:lnTo>
                  <a:lnTo>
                    <a:pt x="10896600" y="4533900"/>
                  </a:lnTo>
                  <a:lnTo>
                    <a:pt x="0" y="453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64204" y="5081608"/>
            <a:ext cx="8686800" cy="4500562"/>
            <a:chOff x="0" y="0"/>
            <a:chExt cx="11582400" cy="600075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1582400" cy="6000750"/>
            </a:xfrm>
            <a:custGeom>
              <a:avLst/>
              <a:gdLst/>
              <a:ahLst/>
              <a:cxnLst/>
              <a:rect r="r" b="b" t="t" l="l"/>
              <a:pathLst>
                <a:path h="600075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6000750"/>
                  </a:lnTo>
                  <a:lnTo>
                    <a:pt x="0" y="600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592804" y="5310208"/>
            <a:ext cx="214312" cy="400050"/>
            <a:chOff x="0" y="0"/>
            <a:chExt cx="285750" cy="5334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28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92804" y="5881708"/>
            <a:ext cx="8229600" cy="3376593"/>
            <a:chOff x="0" y="0"/>
            <a:chExt cx="10972800" cy="4502123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0972800" cy="4502123"/>
            </a:xfrm>
            <a:custGeom>
              <a:avLst/>
              <a:gdLst/>
              <a:ahLst/>
              <a:cxnLst/>
              <a:rect r="r" b="b" t="t" l="l"/>
              <a:pathLst>
                <a:path h="4502123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02123"/>
                  </a:lnTo>
                  <a:lnTo>
                    <a:pt x="0" y="4502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9873" r="0" b="-9873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592804" y="5881708"/>
            <a:ext cx="8229600" cy="514350"/>
            <a:chOff x="0" y="0"/>
            <a:chExt cx="10972800" cy="6858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10972800" cy="685800"/>
            </a:xfrm>
            <a:custGeom>
              <a:avLst/>
              <a:gdLst/>
              <a:ahLst/>
              <a:cxnLst/>
              <a:rect r="r" b="b" t="t" l="l"/>
              <a:pathLst>
                <a:path h="6858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388" r="0" b="-1388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707104" y="6538933"/>
            <a:ext cx="200025" cy="200025"/>
            <a:chOff x="0" y="0"/>
            <a:chExt cx="266700" cy="2667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707104" y="6881833"/>
            <a:ext cx="200025" cy="200025"/>
            <a:chOff x="0" y="0"/>
            <a:chExt cx="266700" cy="2667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707104" y="7224733"/>
            <a:ext cx="228600" cy="200025"/>
            <a:chOff x="0" y="0"/>
            <a:chExt cx="304800" cy="2667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707104" y="7739083"/>
            <a:ext cx="171450" cy="171450"/>
            <a:chOff x="0" y="0"/>
            <a:chExt cx="228600" cy="2286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891717" y="1847870"/>
            <a:ext cx="191434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Input Form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63104" y="2447945"/>
            <a:ext cx="40576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Name: John Doe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735054" y="2447945"/>
            <a:ext cx="40576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Age: 75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63104" y="2847995"/>
            <a:ext cx="40576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Gender: Male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735054" y="2847995"/>
            <a:ext cx="48691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Education: 16 years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91704" y="3257570"/>
            <a:ext cx="98755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 32 clinical fields organized into 6 sections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035717" y="1847870"/>
            <a:ext cx="299367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Prediction Result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592804" y="4171970"/>
            <a:ext cx="20145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LOW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664492" y="4171970"/>
            <a:ext cx="20145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MODERATE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736179" y="4171970"/>
            <a:ext cx="20145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807867" y="4171970"/>
            <a:ext cx="20145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CRITICAL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06017" y="5234008"/>
            <a:ext cx="32883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SHAP Visualization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921417" y="5234008"/>
            <a:ext cx="198024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PDF Report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707104" y="5948383"/>
            <a:ext cx="23630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Patient: John Doe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936454" y="5948383"/>
            <a:ext cx="212598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Date: 2025-12-01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964279" y="6462733"/>
            <a:ext cx="8001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Risk: </a:t>
            </a:r>
            <a:r>
              <a:rPr lang="en-US" sz="15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High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964279" y="6805633"/>
            <a:ext cx="8001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MMSE: 24/30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992854" y="7148533"/>
            <a:ext cx="8001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Functional: 75%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935704" y="7558108"/>
            <a:ext cx="9875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Download complete report with SHAP 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6108" y="1788365"/>
            <a:ext cx="8801100" cy="2800350"/>
            <a:chOff x="0" y="0"/>
            <a:chExt cx="11734800" cy="37338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7348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11734800">
                  <a:moveTo>
                    <a:pt x="0" y="0"/>
                  </a:moveTo>
                  <a:lnTo>
                    <a:pt x="11734800" y="0"/>
                  </a:lnTo>
                  <a:lnTo>
                    <a:pt x="11734800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20" r="0" b="-102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7558" y="1988390"/>
            <a:ext cx="342900" cy="342900"/>
            <a:chOff x="0" y="0"/>
            <a:chExt cx="457200" cy="4572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7558" y="2417015"/>
            <a:ext cx="8458200" cy="1485900"/>
            <a:chOff x="0" y="0"/>
            <a:chExt cx="11277600" cy="19812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12776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981200"/>
                  </a:lnTo>
                  <a:lnTo>
                    <a:pt x="0" y="198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923" r="0" b="-192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11858" y="2531315"/>
            <a:ext cx="8229600" cy="400050"/>
            <a:chOff x="0" y="0"/>
            <a:chExt cx="10972800" cy="533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97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69008" y="2988515"/>
            <a:ext cx="2666852" cy="342900"/>
            <a:chOff x="0" y="0"/>
            <a:chExt cx="3555802" cy="4572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555746" cy="457200"/>
            </a:xfrm>
            <a:custGeom>
              <a:avLst/>
              <a:gdLst/>
              <a:ahLst/>
              <a:cxnLst/>
              <a:rect r="r" b="b" t="t" l="l"/>
              <a:pathLst>
                <a:path h="457200" w="3555746">
                  <a:moveTo>
                    <a:pt x="0" y="0"/>
                  </a:moveTo>
                  <a:lnTo>
                    <a:pt x="3555746" y="0"/>
                  </a:lnTo>
                  <a:lnTo>
                    <a:pt x="35557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6" r="-1" b="-17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393010" y="2988515"/>
            <a:ext cx="2667075" cy="342900"/>
            <a:chOff x="0" y="0"/>
            <a:chExt cx="3556100" cy="4572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3556127" cy="457200"/>
            </a:xfrm>
            <a:custGeom>
              <a:avLst/>
              <a:gdLst/>
              <a:ahLst/>
              <a:cxnLst/>
              <a:rect r="r" b="b" t="t" l="l"/>
              <a:pathLst>
                <a:path h="457200" w="3556127">
                  <a:moveTo>
                    <a:pt x="0" y="0"/>
                  </a:moveTo>
                  <a:lnTo>
                    <a:pt x="3556127" y="0"/>
                  </a:lnTo>
                  <a:lnTo>
                    <a:pt x="35561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80" r="0" b="-18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17233" y="2988515"/>
            <a:ext cx="2667075" cy="342900"/>
            <a:chOff x="0" y="0"/>
            <a:chExt cx="3556100" cy="4572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3556127" cy="457200"/>
            </a:xfrm>
            <a:custGeom>
              <a:avLst/>
              <a:gdLst/>
              <a:ahLst/>
              <a:cxnLst/>
              <a:rect r="r" b="b" t="t" l="l"/>
              <a:pathLst>
                <a:path h="457200" w="3556127">
                  <a:moveTo>
                    <a:pt x="0" y="0"/>
                  </a:moveTo>
                  <a:lnTo>
                    <a:pt x="3556127" y="0"/>
                  </a:lnTo>
                  <a:lnTo>
                    <a:pt x="35561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80" r="0" b="-18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9008" y="3388565"/>
            <a:ext cx="2666852" cy="342900"/>
            <a:chOff x="0" y="0"/>
            <a:chExt cx="3555802" cy="4572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555746" cy="457200"/>
            </a:xfrm>
            <a:custGeom>
              <a:avLst/>
              <a:gdLst/>
              <a:ahLst/>
              <a:cxnLst/>
              <a:rect r="r" b="b" t="t" l="l"/>
              <a:pathLst>
                <a:path h="457200" w="3555746">
                  <a:moveTo>
                    <a:pt x="0" y="0"/>
                  </a:moveTo>
                  <a:lnTo>
                    <a:pt x="3555746" y="0"/>
                  </a:lnTo>
                  <a:lnTo>
                    <a:pt x="35557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6" r="-1" b="-17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93010" y="3388565"/>
            <a:ext cx="2667075" cy="342900"/>
            <a:chOff x="0" y="0"/>
            <a:chExt cx="3556100" cy="4572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556127" cy="457200"/>
            </a:xfrm>
            <a:custGeom>
              <a:avLst/>
              <a:gdLst/>
              <a:ahLst/>
              <a:cxnLst/>
              <a:rect r="r" b="b" t="t" l="l"/>
              <a:pathLst>
                <a:path h="457200" w="3556127">
                  <a:moveTo>
                    <a:pt x="0" y="0"/>
                  </a:moveTo>
                  <a:lnTo>
                    <a:pt x="3556127" y="0"/>
                  </a:lnTo>
                  <a:lnTo>
                    <a:pt x="35561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80" r="0" b="-18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117233" y="3388565"/>
            <a:ext cx="2667075" cy="342900"/>
            <a:chOff x="0" y="0"/>
            <a:chExt cx="3556100" cy="4572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556127" cy="457200"/>
            </a:xfrm>
            <a:custGeom>
              <a:avLst/>
              <a:gdLst/>
              <a:ahLst/>
              <a:cxnLst/>
              <a:rect r="r" b="b" t="t" l="l"/>
              <a:pathLst>
                <a:path h="457200" w="3556127">
                  <a:moveTo>
                    <a:pt x="0" y="0"/>
                  </a:moveTo>
                  <a:lnTo>
                    <a:pt x="3556127" y="0"/>
                  </a:lnTo>
                  <a:lnTo>
                    <a:pt x="35561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80" r="0" b="-18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97558" y="3988640"/>
            <a:ext cx="171450" cy="171450"/>
            <a:chOff x="0" y="0"/>
            <a:chExt cx="228600" cy="2286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55808" y="1788365"/>
            <a:ext cx="8801100" cy="2800350"/>
            <a:chOff x="0" y="0"/>
            <a:chExt cx="11734800" cy="37338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17348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11734800">
                  <a:moveTo>
                    <a:pt x="0" y="0"/>
                  </a:moveTo>
                  <a:lnTo>
                    <a:pt x="11734800" y="0"/>
                  </a:lnTo>
                  <a:lnTo>
                    <a:pt x="11734800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020" r="0" b="-102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27258" y="1988390"/>
            <a:ext cx="342900" cy="342900"/>
            <a:chOff x="0" y="0"/>
            <a:chExt cx="457200" cy="4572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527258" y="2417015"/>
            <a:ext cx="8458200" cy="1714500"/>
            <a:chOff x="0" y="0"/>
            <a:chExt cx="11277600" cy="22860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11277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666" r="0" b="-166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41558" y="2531315"/>
            <a:ext cx="8229600" cy="400050"/>
            <a:chOff x="0" y="0"/>
            <a:chExt cx="10972800" cy="5334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097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98708" y="2988515"/>
            <a:ext cx="4057650" cy="571500"/>
            <a:chOff x="0" y="0"/>
            <a:chExt cx="5410200" cy="7620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410200" cy="762000"/>
            </a:xfrm>
            <a:custGeom>
              <a:avLst/>
              <a:gdLst/>
              <a:ahLst/>
              <a:cxnLst/>
              <a:rect r="r" b="b" t="t" l="l"/>
              <a:pathLst>
                <a:path h="7620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98708" y="2988515"/>
            <a:ext cx="3043238" cy="571500"/>
            <a:chOff x="0" y="0"/>
            <a:chExt cx="4057650" cy="7620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4057650" cy="762000"/>
            </a:xfrm>
            <a:custGeom>
              <a:avLst/>
              <a:gdLst/>
              <a:ahLst/>
              <a:cxnLst/>
              <a:rect r="r" b="b" t="t" l="l"/>
              <a:pathLst>
                <a:path h="762000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98708" y="3617165"/>
            <a:ext cx="2666852" cy="342900"/>
            <a:chOff x="0" y="0"/>
            <a:chExt cx="3555802" cy="4572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3555746" cy="457200"/>
            </a:xfrm>
            <a:custGeom>
              <a:avLst/>
              <a:gdLst/>
              <a:ahLst/>
              <a:cxnLst/>
              <a:rect r="r" b="b" t="t" l="l"/>
              <a:pathLst>
                <a:path h="457200" w="3555746">
                  <a:moveTo>
                    <a:pt x="0" y="0"/>
                  </a:moveTo>
                  <a:lnTo>
                    <a:pt x="3555746" y="0"/>
                  </a:lnTo>
                  <a:lnTo>
                    <a:pt x="3555746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76" r="-1" b="-17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22710" y="3617165"/>
            <a:ext cx="2667075" cy="342900"/>
            <a:chOff x="0" y="0"/>
            <a:chExt cx="3556100" cy="4572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3556127" cy="457200"/>
            </a:xfrm>
            <a:custGeom>
              <a:avLst/>
              <a:gdLst/>
              <a:ahLst/>
              <a:cxnLst/>
              <a:rect r="r" b="b" t="t" l="l"/>
              <a:pathLst>
                <a:path h="457200" w="3556127">
                  <a:moveTo>
                    <a:pt x="0" y="0"/>
                  </a:moveTo>
                  <a:lnTo>
                    <a:pt x="3556127" y="0"/>
                  </a:lnTo>
                  <a:lnTo>
                    <a:pt x="35561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180" r="0" b="-18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146933" y="3617165"/>
            <a:ext cx="2667075" cy="342900"/>
            <a:chOff x="0" y="0"/>
            <a:chExt cx="3556100" cy="4572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3556127" cy="457200"/>
            </a:xfrm>
            <a:custGeom>
              <a:avLst/>
              <a:gdLst/>
              <a:ahLst/>
              <a:cxnLst/>
              <a:rect r="r" b="b" t="t" l="l"/>
              <a:pathLst>
                <a:path h="457200" w="3556127">
                  <a:moveTo>
                    <a:pt x="0" y="0"/>
                  </a:moveTo>
                  <a:lnTo>
                    <a:pt x="3556127" y="0"/>
                  </a:lnTo>
                  <a:lnTo>
                    <a:pt x="3556127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80" r="0" b="-18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527258" y="4217240"/>
            <a:ext cx="171450" cy="171450"/>
            <a:chOff x="0" y="0"/>
            <a:chExt cx="228600" cy="2286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26108" y="4817316"/>
            <a:ext cx="8801100" cy="2800350"/>
            <a:chOff x="0" y="0"/>
            <a:chExt cx="11734800" cy="37338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117348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11734800">
                  <a:moveTo>
                    <a:pt x="0" y="0"/>
                  </a:moveTo>
                  <a:lnTo>
                    <a:pt x="11734800" y="0"/>
                  </a:lnTo>
                  <a:lnTo>
                    <a:pt x="11734800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020" r="0" b="-102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97558" y="5017340"/>
            <a:ext cx="342900" cy="342900"/>
            <a:chOff x="0" y="0"/>
            <a:chExt cx="457200" cy="4572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97558" y="5445966"/>
            <a:ext cx="8458200" cy="1714500"/>
            <a:chOff x="0" y="0"/>
            <a:chExt cx="11277600" cy="22860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11277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1666" r="0" b="-166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1858" y="5560266"/>
            <a:ext cx="8229600" cy="400050"/>
            <a:chOff x="0" y="0"/>
            <a:chExt cx="10972800" cy="5334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1097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69008" y="6017466"/>
            <a:ext cx="8115300" cy="685800"/>
            <a:chOff x="0" y="0"/>
            <a:chExt cx="10820400" cy="91440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1082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7558" y="7246190"/>
            <a:ext cx="171450" cy="171450"/>
            <a:chOff x="0" y="0"/>
            <a:chExt cx="228600" cy="22860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355808" y="4817316"/>
            <a:ext cx="8801100" cy="2800350"/>
            <a:chOff x="0" y="0"/>
            <a:chExt cx="11734800" cy="373380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117348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11734800">
                  <a:moveTo>
                    <a:pt x="0" y="0"/>
                  </a:moveTo>
                  <a:lnTo>
                    <a:pt x="11734800" y="0"/>
                  </a:lnTo>
                  <a:lnTo>
                    <a:pt x="11734800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527258" y="5017340"/>
            <a:ext cx="342900" cy="342900"/>
            <a:chOff x="0" y="0"/>
            <a:chExt cx="457200" cy="457200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527258" y="5445966"/>
            <a:ext cx="4171950" cy="1485900"/>
            <a:chOff x="0" y="0"/>
            <a:chExt cx="5562600" cy="198120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55626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1981200"/>
                  </a:lnTo>
                  <a:lnTo>
                    <a:pt x="0" y="198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-1923" r="0" b="-1923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641558" y="5560266"/>
            <a:ext cx="3943350" cy="400050"/>
            <a:chOff x="0" y="0"/>
            <a:chExt cx="5257800" cy="533400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525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98708" y="6017466"/>
            <a:ext cx="3829050" cy="342900"/>
            <a:chOff x="0" y="0"/>
            <a:chExt cx="5105400" cy="457200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5105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55858" y="6103190"/>
            <a:ext cx="157162" cy="171450"/>
            <a:chOff x="0" y="0"/>
            <a:chExt cx="209550" cy="228600"/>
          </a:xfrm>
        </p:grpSpPr>
        <p:sp>
          <p:nvSpPr>
            <p:cNvPr name="Freeform 87" id="87" descr="preencoded.png"/>
            <p:cNvSpPr/>
            <p:nvPr/>
          </p:nvSpPr>
          <p:spPr>
            <a:xfrm flipH="false" flipV="false" rot="0">
              <a:off x="0" y="0"/>
              <a:ext cx="209550" cy="228600"/>
            </a:xfrm>
            <a:custGeom>
              <a:avLst/>
              <a:gdLst/>
              <a:ahLst/>
              <a:cxnLst/>
              <a:rect r="r" b="b" t="t" l="l"/>
              <a:pathLst>
                <a:path h="2286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698708" y="6417516"/>
            <a:ext cx="3829050" cy="342900"/>
            <a:chOff x="0" y="0"/>
            <a:chExt cx="5105400" cy="457200"/>
          </a:xfrm>
        </p:grpSpPr>
        <p:sp>
          <p:nvSpPr>
            <p:cNvPr name="Freeform 89" id="89" descr="preencoded.png"/>
            <p:cNvSpPr/>
            <p:nvPr/>
          </p:nvSpPr>
          <p:spPr>
            <a:xfrm flipH="false" flipV="false" rot="0">
              <a:off x="0" y="0"/>
              <a:ext cx="5105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105400">
                  <a:moveTo>
                    <a:pt x="0" y="0"/>
                  </a:moveTo>
                  <a:lnTo>
                    <a:pt x="5105400" y="0"/>
                  </a:lnTo>
                  <a:lnTo>
                    <a:pt x="5105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755858" y="6503240"/>
            <a:ext cx="214312" cy="171450"/>
            <a:chOff x="0" y="0"/>
            <a:chExt cx="285750" cy="228600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285750" cy="228600"/>
            </a:xfrm>
            <a:custGeom>
              <a:avLst/>
              <a:gdLst/>
              <a:ahLst/>
              <a:cxnLst/>
              <a:rect r="r" b="b" t="t" l="l"/>
              <a:pathLst>
                <a:path h="2286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813508" y="5445966"/>
            <a:ext cx="4171950" cy="1485900"/>
            <a:chOff x="0" y="0"/>
            <a:chExt cx="5562600" cy="1981200"/>
          </a:xfrm>
        </p:grpSpPr>
        <p:sp>
          <p:nvSpPr>
            <p:cNvPr name="Freeform 93" id="93" descr="preencoded.png"/>
            <p:cNvSpPr/>
            <p:nvPr/>
          </p:nvSpPr>
          <p:spPr>
            <a:xfrm flipH="false" flipV="false" rot="0">
              <a:off x="0" y="0"/>
              <a:ext cx="55626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5562600">
                  <a:moveTo>
                    <a:pt x="0" y="0"/>
                  </a:moveTo>
                  <a:lnTo>
                    <a:pt x="5562600" y="0"/>
                  </a:lnTo>
                  <a:lnTo>
                    <a:pt x="5562600" y="1981200"/>
                  </a:lnTo>
                  <a:lnTo>
                    <a:pt x="0" y="198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927808" y="5560266"/>
            <a:ext cx="3943350" cy="400050"/>
            <a:chOff x="0" y="0"/>
            <a:chExt cx="5257800" cy="533400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525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770896" y="6017466"/>
            <a:ext cx="257175" cy="457200"/>
            <a:chOff x="0" y="0"/>
            <a:chExt cx="342900" cy="609600"/>
          </a:xfrm>
        </p:grpSpPr>
        <p:sp>
          <p:nvSpPr>
            <p:cNvPr name="Freeform 97" id="97" descr="preencoded.png"/>
            <p:cNvSpPr/>
            <p:nvPr/>
          </p:nvSpPr>
          <p:spPr>
            <a:xfrm flipH="false" flipV="false" rot="0">
              <a:off x="0" y="0"/>
              <a:ext cx="342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27258" y="7017590"/>
            <a:ext cx="171450" cy="171450"/>
            <a:chOff x="0" y="0"/>
            <a:chExt cx="228600" cy="228600"/>
          </a:xfrm>
        </p:grpSpPr>
        <p:sp>
          <p:nvSpPr>
            <p:cNvPr name="Freeform 99" id="99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26108" y="7731966"/>
            <a:ext cx="17830800" cy="1771650"/>
            <a:chOff x="0" y="0"/>
            <a:chExt cx="23774400" cy="2362200"/>
          </a:xfrm>
        </p:grpSpPr>
        <p:sp>
          <p:nvSpPr>
            <p:cNvPr name="Freeform 101" id="101" descr="preencoded.png"/>
            <p:cNvSpPr/>
            <p:nvPr/>
          </p:nvSpPr>
          <p:spPr>
            <a:xfrm flipH="false" flipV="false" rot="0">
              <a:off x="0" y="0"/>
              <a:ext cx="237744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774400">
                  <a:moveTo>
                    <a:pt x="0" y="0"/>
                  </a:moveTo>
                  <a:lnTo>
                    <a:pt x="23774400" y="0"/>
                  </a:lnTo>
                  <a:lnTo>
                    <a:pt x="23774400" y="2362200"/>
                  </a:lnTo>
                  <a:lnTo>
                    <a:pt x="0" y="236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97558" y="7903416"/>
            <a:ext cx="1428750" cy="1428750"/>
            <a:chOff x="0" y="0"/>
            <a:chExt cx="1905000" cy="1905000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26196" y="8217740"/>
            <a:ext cx="371475" cy="514350"/>
            <a:chOff x="0" y="0"/>
            <a:chExt cx="495300" cy="685800"/>
          </a:xfrm>
        </p:grpSpPr>
        <p:sp>
          <p:nvSpPr>
            <p:cNvPr name="Freeform 105" id="105" descr="preencoded.png"/>
            <p:cNvSpPr/>
            <p:nvPr/>
          </p:nvSpPr>
          <p:spPr>
            <a:xfrm flipH="false" flipV="false" rot="0">
              <a:off x="0" y="0"/>
              <a:ext cx="495300" cy="685800"/>
            </a:xfrm>
            <a:custGeom>
              <a:avLst/>
              <a:gdLst/>
              <a:ahLst/>
              <a:cxnLst/>
              <a:rect r="r" b="b" t="t" l="l"/>
              <a:pathLst>
                <a:path h="6858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0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797239" y="8446340"/>
            <a:ext cx="2188220" cy="342900"/>
            <a:chOff x="0" y="0"/>
            <a:chExt cx="2917626" cy="457200"/>
          </a:xfrm>
        </p:grpSpPr>
        <p:sp>
          <p:nvSpPr>
            <p:cNvPr name="Freeform 107" id="107" descr="preencoded.png"/>
            <p:cNvSpPr/>
            <p:nvPr/>
          </p:nvSpPr>
          <p:spPr>
            <a:xfrm flipH="false" flipV="false" rot="0">
              <a:off x="0" y="0"/>
              <a:ext cx="2917571" cy="457200"/>
            </a:xfrm>
            <a:custGeom>
              <a:avLst/>
              <a:gdLst/>
              <a:ahLst/>
              <a:cxnLst/>
              <a:rect r="r" b="b" t="t" l="l"/>
              <a:pathLst>
                <a:path h="457200" w="2917571">
                  <a:moveTo>
                    <a:pt x="0" y="0"/>
                  </a:moveTo>
                  <a:lnTo>
                    <a:pt x="2917571" y="0"/>
                  </a:lnTo>
                  <a:lnTo>
                    <a:pt x="2917571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-1254" t="0" r="-1256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854389" y="8532066"/>
            <a:ext cx="171450" cy="171450"/>
            <a:chOff x="0" y="0"/>
            <a:chExt cx="228600" cy="228600"/>
          </a:xfrm>
        </p:grpSpPr>
        <p:sp>
          <p:nvSpPr>
            <p:cNvPr name="Freeform 109" id="109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0" b="0"/>
              </a:stretch>
            </a:blip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7655179" y="740902"/>
            <a:ext cx="2601158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Live Demo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609179" y="2007440"/>
            <a:ext cx="14332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54758" y="1883615"/>
            <a:ext cx="321388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Patient Data Input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26158" y="2483690"/>
            <a:ext cx="82296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Clinical Assessment Form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726158" y="2950415"/>
            <a:ext cx="266685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Demographics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450160" y="2950415"/>
            <a:ext cx="2667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Lifestyle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6174383" y="2950415"/>
            <a:ext cx="32004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Medical History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726158" y="3350465"/>
            <a:ext cx="266685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Clinical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3450160" y="3350465"/>
            <a:ext cx="2667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Cognitive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174383" y="3350465"/>
            <a:ext cx="2667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Review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726158" y="3921965"/>
            <a:ext cx="84582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32 clinical fields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638879" y="2007440"/>
            <a:ext cx="14332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9984458" y="1883615"/>
            <a:ext cx="26223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Risk Prediction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9755858" y="2483690"/>
            <a:ext cx="82296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166534"/>
                </a:solidFill>
                <a:latin typeface="Arimo"/>
                <a:ea typeface="Arimo"/>
                <a:cs typeface="Arimo"/>
                <a:sym typeface="Arimo"/>
              </a:rPr>
              <a:t>Results Dashboard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1331949" y="2950415"/>
            <a:ext cx="40576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75% Risk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6331903" y="3121865"/>
            <a:ext cx="17785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75-100%: Critical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9755858" y="3579065"/>
            <a:ext cx="266685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MMSE: 26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479860" y="3579065"/>
            <a:ext cx="2667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Age: 78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5204083" y="3579065"/>
            <a:ext cx="26670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75ms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755858" y="4150565"/>
            <a:ext cx="84582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Instant prediction with 4-tier risk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609179" y="5036390"/>
            <a:ext cx="14332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54758" y="4912566"/>
            <a:ext cx="34185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SHAP Explainability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726158" y="5512641"/>
            <a:ext cx="82296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854D0E"/>
                </a:solidFill>
                <a:latin typeface="Arimo"/>
                <a:ea typeface="Arimo"/>
                <a:cs typeface="Arimo"/>
                <a:sym typeface="Arimo"/>
              </a:rPr>
              <a:t>SHAP Explanation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669008" y="6722316"/>
            <a:ext cx="6156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MMSE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518570" y="6722316"/>
            <a:ext cx="105843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Functional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4737151" y="6722316"/>
            <a:ext cx="83689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Memory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6771110" y="6722316"/>
            <a:ext cx="41389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ADL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8452570" y="6722316"/>
            <a:ext cx="39808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Age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726158" y="7179516"/>
            <a:ext cx="1014984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Waterfall plots showing feature contributions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638879" y="5036390"/>
            <a:ext cx="14332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9984458" y="4912566"/>
            <a:ext cx="304618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Chatbot &amp; Report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9755858" y="5512641"/>
            <a:ext cx="47320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6B21A8"/>
                </a:solidFill>
                <a:latin typeface="Arimo"/>
                <a:ea typeface="Arimo"/>
                <a:cs typeface="Arimo"/>
                <a:sym typeface="Arimo"/>
              </a:rPr>
              <a:t>AI Medical Chatbot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9970171" y="5979366"/>
            <a:ext cx="38290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What is MMSE?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0027321" y="6379416"/>
            <a:ext cx="45948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Mini-Mental State Exam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4042108" y="5512641"/>
            <a:ext cx="394335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3730A3"/>
                </a:solidFill>
                <a:latin typeface="Arimo"/>
                <a:ea typeface="Arimo"/>
                <a:cs typeface="Arimo"/>
                <a:sym typeface="Arimo"/>
              </a:rPr>
              <a:t>PDF Report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755858" y="6950916"/>
            <a:ext cx="84582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AI assistant + downloadable reports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686198" y="8751140"/>
            <a:ext cx="126149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Scan to visit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2097758" y="8284415"/>
            <a:ext cx="424986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Demo URL: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2097758" y="8570165"/>
            <a:ext cx="50998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alzheimers-prediction-demo.onrender.com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6082989" y="8465390"/>
            <a:ext cx="248870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3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Live demo limitations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7200" y="3906141"/>
            <a:ext cx="5600700" cy="1885950"/>
            <a:chOff x="0" y="0"/>
            <a:chExt cx="7467600" cy="25146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467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43650" y="3906141"/>
            <a:ext cx="5600700" cy="1885950"/>
            <a:chOff x="0" y="0"/>
            <a:chExt cx="7467600" cy="25146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467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72250" y="4134741"/>
            <a:ext cx="571500" cy="571500"/>
            <a:chOff x="0" y="0"/>
            <a:chExt cx="762000" cy="7620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743700" y="4306191"/>
            <a:ext cx="228600" cy="228600"/>
            <a:chOff x="0" y="0"/>
            <a:chExt cx="304800" cy="3048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230100" y="3906141"/>
            <a:ext cx="5600700" cy="1885950"/>
            <a:chOff x="0" y="0"/>
            <a:chExt cx="7467600" cy="25146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467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58700" y="4134741"/>
            <a:ext cx="571500" cy="571500"/>
            <a:chOff x="0" y="0"/>
            <a:chExt cx="762000" cy="7620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44438" y="4306191"/>
            <a:ext cx="200025" cy="228600"/>
            <a:chOff x="0" y="0"/>
            <a:chExt cx="266700" cy="3048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57200" y="6077841"/>
            <a:ext cx="5600700" cy="1885950"/>
            <a:chOff x="0" y="0"/>
            <a:chExt cx="7467600" cy="25146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7467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343650" y="6077841"/>
            <a:ext cx="5600700" cy="1885950"/>
            <a:chOff x="0" y="0"/>
            <a:chExt cx="7467600" cy="25146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467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572250" y="6306441"/>
            <a:ext cx="571500" cy="571500"/>
            <a:chOff x="0" y="0"/>
            <a:chExt cx="762000" cy="7620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743700" y="6477891"/>
            <a:ext cx="228600" cy="228600"/>
            <a:chOff x="0" y="0"/>
            <a:chExt cx="304800" cy="304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230100" y="6077841"/>
            <a:ext cx="5600700" cy="1885950"/>
            <a:chOff x="0" y="0"/>
            <a:chExt cx="7467600" cy="25146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7467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58700" y="6306441"/>
            <a:ext cx="571500" cy="571500"/>
            <a:chOff x="0" y="0"/>
            <a:chExt cx="762000" cy="7620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30150" y="6477891"/>
            <a:ext cx="228600" cy="228600"/>
            <a:chOff x="0" y="0"/>
            <a:chExt cx="304800" cy="3048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57200" y="8306691"/>
            <a:ext cx="17373600" cy="857250"/>
            <a:chOff x="0" y="0"/>
            <a:chExt cx="23164800" cy="11430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231648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571500" y="1801116"/>
            <a:ext cx="20574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Validation &amp; Quality Assurance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57200" y="3106041"/>
            <a:ext cx="20848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Our rigorous 6-point validation framework ensures model reliability and clinical utility.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28750" y="4163316"/>
            <a:ext cx="313298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Cross-Validation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8650" y="48014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5-fold stratified CV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28650" y="51443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Accuracy: 96.98% ±0.43%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315200" y="4163316"/>
            <a:ext cx="24779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Test Set Eval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515100" y="48014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430 held-out patients (20%)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515100" y="51443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Accuracy: 94.75%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201650" y="4163316"/>
            <a:ext cx="347695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Statistical Testing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01550" y="48014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28/35 features significant (p&lt;0.05)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28750" y="6335016"/>
            <a:ext cx="265077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Data Leakage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28650" y="69731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Single-feature AUC analysis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315200" y="6335016"/>
            <a:ext cx="21924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Dual-Model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515100" y="69731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Model A: Pre-screening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515100" y="73160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Model B: Diagnostic support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01650" y="6335016"/>
            <a:ext cx="211017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Production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401550" y="69731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Edge case handling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401550" y="7316091"/>
            <a:ext cx="62407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Performance benchmarking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57275" y="8459091"/>
            <a:ext cx="202996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NO OVERFITTING PROOF: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Test accuracy (94.75%) ≥ Training accuracy.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30331" y="4034728"/>
            <a:ext cx="17373600" cy="3000375"/>
            <a:chOff x="0" y="0"/>
            <a:chExt cx="23164800" cy="40005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3164800" cy="4000500"/>
            </a:xfrm>
            <a:custGeom>
              <a:avLst/>
              <a:gdLst/>
              <a:ahLst/>
              <a:cxnLst/>
              <a:rect r="r" b="b" t="t" l="l"/>
              <a:pathLst>
                <a:path h="40005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76" r="0" b="-47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0331" y="4034728"/>
            <a:ext cx="17373600" cy="685800"/>
            <a:chOff x="0" y="0"/>
            <a:chExt cx="23164800" cy="9144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316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30331" y="4720528"/>
            <a:ext cx="17373600" cy="771525"/>
            <a:chOff x="0" y="0"/>
            <a:chExt cx="23164800" cy="10287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231648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989380" y="4891978"/>
            <a:ext cx="1371600" cy="428625"/>
            <a:chOff x="0" y="0"/>
            <a:chExt cx="1828800" cy="5715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828800" cy="571500"/>
            </a:xfrm>
            <a:custGeom>
              <a:avLst/>
              <a:gdLst/>
              <a:ahLst/>
              <a:cxnLst/>
              <a:rect r="r" b="b" t="t" l="l"/>
              <a:pathLst>
                <a:path h="571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989380" y="4891978"/>
            <a:ext cx="1367358" cy="428625"/>
            <a:chOff x="0" y="0"/>
            <a:chExt cx="1823144" cy="5715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823085" cy="571500"/>
            </a:xfrm>
            <a:custGeom>
              <a:avLst/>
              <a:gdLst/>
              <a:ahLst/>
              <a:cxnLst/>
              <a:rect r="r" b="b" t="t" l="l"/>
              <a:pathLst>
                <a:path h="571500" w="1823085">
                  <a:moveTo>
                    <a:pt x="0" y="0"/>
                  </a:moveTo>
                  <a:lnTo>
                    <a:pt x="1823085" y="0"/>
                  </a:lnTo>
                  <a:lnTo>
                    <a:pt x="1823085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70" r="-3" b="-37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0331" y="5492053"/>
            <a:ext cx="17373600" cy="771525"/>
            <a:chOff x="0" y="0"/>
            <a:chExt cx="23164800" cy="10287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31648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148327" y="5663503"/>
            <a:ext cx="1371600" cy="428625"/>
            <a:chOff x="0" y="0"/>
            <a:chExt cx="1828800" cy="5715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828800" cy="571500"/>
            </a:xfrm>
            <a:custGeom>
              <a:avLst/>
              <a:gdLst/>
              <a:ahLst/>
              <a:cxnLst/>
              <a:rect r="r" b="b" t="t" l="l"/>
              <a:pathLst>
                <a:path h="571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148327" y="5663503"/>
            <a:ext cx="1371377" cy="428625"/>
            <a:chOff x="0" y="0"/>
            <a:chExt cx="1828502" cy="5715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828546" cy="571500"/>
            </a:xfrm>
            <a:custGeom>
              <a:avLst/>
              <a:gdLst/>
              <a:ahLst/>
              <a:cxnLst/>
              <a:rect r="r" b="b" t="t" l="l"/>
              <a:pathLst>
                <a:path h="571500" w="1828546">
                  <a:moveTo>
                    <a:pt x="0" y="0"/>
                  </a:moveTo>
                  <a:lnTo>
                    <a:pt x="1828546" y="0"/>
                  </a:lnTo>
                  <a:lnTo>
                    <a:pt x="1828546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18" r="2" b="-51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902539" y="6435028"/>
            <a:ext cx="1371600" cy="428625"/>
            <a:chOff x="0" y="0"/>
            <a:chExt cx="1828800" cy="5715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828800" cy="571500"/>
            </a:xfrm>
            <a:custGeom>
              <a:avLst/>
              <a:gdLst/>
              <a:ahLst/>
              <a:cxnLst/>
              <a:rect r="r" b="b" t="t" l="l"/>
              <a:pathLst>
                <a:path h="571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902539" y="6435028"/>
            <a:ext cx="1371600" cy="428625"/>
            <a:chOff x="0" y="0"/>
            <a:chExt cx="1828800" cy="5715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828800" cy="571500"/>
            </a:xfrm>
            <a:custGeom>
              <a:avLst/>
              <a:gdLst/>
              <a:ahLst/>
              <a:cxnLst/>
              <a:rect r="r" b="b" t="t" l="l"/>
              <a:pathLst>
                <a:path h="5715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30331" y="7378003"/>
            <a:ext cx="5562525" cy="1714500"/>
            <a:chOff x="0" y="0"/>
            <a:chExt cx="7416700" cy="22860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7416673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16673">
                  <a:moveTo>
                    <a:pt x="0" y="0"/>
                  </a:moveTo>
                  <a:lnTo>
                    <a:pt x="7416673" y="0"/>
                  </a:lnTo>
                  <a:lnTo>
                    <a:pt x="7416673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2" r="0" b="-4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58931" y="7606603"/>
            <a:ext cx="342900" cy="457200"/>
            <a:chOff x="0" y="0"/>
            <a:chExt cx="457200" cy="6096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35756" y="7378003"/>
            <a:ext cx="5562525" cy="1714500"/>
            <a:chOff x="0" y="0"/>
            <a:chExt cx="7416700" cy="22860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7416673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16673">
                  <a:moveTo>
                    <a:pt x="0" y="0"/>
                  </a:moveTo>
                  <a:lnTo>
                    <a:pt x="7416673" y="0"/>
                  </a:lnTo>
                  <a:lnTo>
                    <a:pt x="7416673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42" r="0" b="-42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664356" y="7606603"/>
            <a:ext cx="300038" cy="457200"/>
            <a:chOff x="0" y="0"/>
            <a:chExt cx="400050" cy="6096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1183" y="7378003"/>
            <a:ext cx="5562748" cy="1714500"/>
            <a:chOff x="0" y="0"/>
            <a:chExt cx="7416998" cy="22860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7417054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17054">
                  <a:moveTo>
                    <a:pt x="0" y="0"/>
                  </a:moveTo>
                  <a:lnTo>
                    <a:pt x="7417054" y="0"/>
                  </a:lnTo>
                  <a:lnTo>
                    <a:pt x="7417054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4" r="0" b="-44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69783" y="7606603"/>
            <a:ext cx="385762" cy="457200"/>
            <a:chOff x="0" y="0"/>
            <a:chExt cx="514350" cy="6096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143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644631" y="1872553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Project Impact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0331" y="3177478"/>
            <a:ext cx="208483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Our ML-based solution dramatically improves access to Alzheimer's screening.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58931" y="3958528"/>
            <a:ext cx="222483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Metric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983763" y="3958528"/>
            <a:ext cx="504415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Traditional Method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27921" y="3958528"/>
            <a:ext cx="505398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Our ML Solution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081901" y="3958528"/>
            <a:ext cx="505063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Improvement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8931" y="4644328"/>
            <a:ext cx="222483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Cost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983763" y="4644328"/>
            <a:ext cx="50441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$1,000-3,000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027921" y="4644328"/>
            <a:ext cx="505398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$0-7/month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081901" y="4858641"/>
            <a:ext cx="95181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99.7%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58931" y="5415853"/>
            <a:ext cx="222483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Time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983763" y="5415853"/>
            <a:ext cx="504415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6-12 months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027921" y="5415853"/>
            <a:ext cx="505398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15 seconds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081901" y="5630166"/>
            <a:ext cx="114255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99.99%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58931" y="6187378"/>
            <a:ext cx="222483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Access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983763" y="6187378"/>
            <a:ext cx="605298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Urban hospitals only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027921" y="6187378"/>
            <a:ext cx="606477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Global (internet only)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081901" y="6401691"/>
            <a:ext cx="84760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100%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73281" y="7578028"/>
            <a:ext cx="39712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Better Explainability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58931" y="8101903"/>
            <a:ext cx="612639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SHAP visualizations vs. black box imaging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135844" y="7578028"/>
            <a:ext cx="297331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Early Detection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664356" y="8101903"/>
            <a:ext cx="510532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Pre-symptomatic possible vs. late-stage only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126995" y="7578028"/>
            <a:ext cx="252352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Primary Care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569783" y="8101903"/>
            <a:ext cx="612665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Empowered primary care physicians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67277" y="2356977"/>
            <a:ext cx="8658225" cy="2571750"/>
            <a:chOff x="0" y="0"/>
            <a:chExt cx="11544300" cy="34290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5443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1544300">
                  <a:moveTo>
                    <a:pt x="0" y="0"/>
                  </a:moveTo>
                  <a:lnTo>
                    <a:pt x="11544300" y="0"/>
                  </a:lnTo>
                  <a:lnTo>
                    <a:pt x="115443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95877" y="2585577"/>
            <a:ext cx="857250" cy="857250"/>
            <a:chOff x="0" y="0"/>
            <a:chExt cx="1143000" cy="1143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0190" y="2785602"/>
            <a:ext cx="428625" cy="457200"/>
            <a:chOff x="0" y="0"/>
            <a:chExt cx="571500" cy="6096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71500" cy="609600"/>
            </a:xfrm>
            <a:custGeom>
              <a:avLst/>
              <a:gdLst/>
              <a:ahLst/>
              <a:cxnLst/>
              <a:rect r="r" b="b" t="t" l="l"/>
              <a:pathLst>
                <a:path h="6096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11252" y="2356977"/>
            <a:ext cx="8658225" cy="2571750"/>
            <a:chOff x="0" y="0"/>
            <a:chExt cx="11544300" cy="34290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5443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1544300">
                  <a:moveTo>
                    <a:pt x="0" y="0"/>
                  </a:moveTo>
                  <a:lnTo>
                    <a:pt x="11544300" y="0"/>
                  </a:lnTo>
                  <a:lnTo>
                    <a:pt x="115443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39852" y="2585577"/>
            <a:ext cx="857250" cy="857250"/>
            <a:chOff x="0" y="0"/>
            <a:chExt cx="1143000" cy="1143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75597" y="2785602"/>
            <a:ext cx="385762" cy="457200"/>
            <a:chOff x="0" y="0"/>
            <a:chExt cx="514350" cy="6096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5143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67277" y="5214477"/>
            <a:ext cx="8658225" cy="2571750"/>
            <a:chOff x="0" y="0"/>
            <a:chExt cx="11544300" cy="34290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15443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1544300">
                  <a:moveTo>
                    <a:pt x="0" y="0"/>
                  </a:moveTo>
                  <a:lnTo>
                    <a:pt x="11544300" y="0"/>
                  </a:lnTo>
                  <a:lnTo>
                    <a:pt x="115443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95877" y="5443077"/>
            <a:ext cx="857250" cy="857250"/>
            <a:chOff x="0" y="0"/>
            <a:chExt cx="1143000" cy="11430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53052" y="5643102"/>
            <a:ext cx="342900" cy="457200"/>
            <a:chOff x="0" y="0"/>
            <a:chExt cx="457200" cy="6096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11252" y="5214477"/>
            <a:ext cx="8658225" cy="2571750"/>
            <a:chOff x="0" y="0"/>
            <a:chExt cx="11544300" cy="34290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15443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1544300">
                  <a:moveTo>
                    <a:pt x="0" y="0"/>
                  </a:moveTo>
                  <a:lnTo>
                    <a:pt x="11544300" y="0"/>
                  </a:lnTo>
                  <a:lnTo>
                    <a:pt x="115443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39852" y="5443077"/>
            <a:ext cx="857250" cy="857250"/>
            <a:chOff x="0" y="0"/>
            <a:chExt cx="1143000" cy="11430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97027" y="5643102"/>
            <a:ext cx="342900" cy="457200"/>
            <a:chOff x="0" y="0"/>
            <a:chExt cx="457200" cy="6096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67277" y="7957677"/>
            <a:ext cx="17602200" cy="1657350"/>
            <a:chOff x="0" y="0"/>
            <a:chExt cx="23469600" cy="22098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234696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23469600">
                  <a:moveTo>
                    <a:pt x="0" y="0"/>
                  </a:moveTo>
                  <a:lnTo>
                    <a:pt x="23469600" y="0"/>
                  </a:lnTo>
                  <a:lnTo>
                    <a:pt x="23469600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38727" y="8643477"/>
            <a:ext cx="228600" cy="228600"/>
            <a:chOff x="0" y="0"/>
            <a:chExt cx="304800" cy="3048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54102" y="8643477"/>
            <a:ext cx="228600" cy="228600"/>
            <a:chOff x="0" y="0"/>
            <a:chExt cx="304800" cy="3048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38727" y="9157827"/>
            <a:ext cx="228600" cy="228600"/>
            <a:chOff x="0" y="0"/>
            <a:chExt cx="304800" cy="3048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254102" y="9157827"/>
            <a:ext cx="228600" cy="228600"/>
            <a:chOff x="0" y="0"/>
            <a:chExt cx="304800" cy="3048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4980949" y="663432"/>
            <a:ext cx="763190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Lessons Learned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67277" y="1671177"/>
            <a:ext cx="211226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Throughout the project, we encountered four major challenges that required innovative solutions.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81727" y="2528427"/>
            <a:ext cx="44622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Class Imbalance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81727" y="2938002"/>
            <a:ext cx="446225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1,400 negative vs 749 positive cases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10277" y="348092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Solution: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SMOTE oversampling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10277" y="388097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Balanced precision/recall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625702" y="2528427"/>
            <a:ext cx="43111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Feature Correlation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625702" y="2938002"/>
            <a:ext cx="431116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Cognitive features highly correlated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454252" y="348092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Solution: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Statistical validation + dual-model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454252" y="388097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Proved no data leakage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81727" y="5385927"/>
            <a:ext cx="4257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Model Interpretability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81727" y="5795502"/>
            <a:ext cx="42570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Random Forest = black box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10277" y="6338427"/>
            <a:ext cx="72866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Solution: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SHAP integration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10277" y="673847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Clinically meaningful features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625702" y="5385927"/>
            <a:ext cx="537817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Deployment Complexity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625702" y="5795502"/>
            <a:ext cx="537817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75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Multiple dependencies (Dash, SHAP, Gemini)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454252" y="633842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Solution: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Docker + cloud deployment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454252" y="6738477"/>
            <a:ext cx="87439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Result:</a:t>
            </a: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Stable production environment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38727" y="8071977"/>
            <a:ext cx="172593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Key Lessons Learned: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81627" y="8510127"/>
            <a:ext cx="555310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Thorough EDA prevents modeling issues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597002" y="8510127"/>
            <a:ext cx="499749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Cross-validation prevents overfitting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81627" y="9024477"/>
            <a:ext cx="482096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User feedback drives better design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597002" y="9024477"/>
            <a:ext cx="533397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Documentation enables reproducibility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86000" y="6486525"/>
            <a:ext cx="13716000" cy="57150"/>
            <a:chOff x="0" y="0"/>
            <a:chExt cx="18288000" cy="76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82880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57200" y="3829050"/>
            <a:ext cx="8458200" cy="4286250"/>
            <a:chOff x="0" y="0"/>
            <a:chExt cx="11277600" cy="5715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2776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66" r="0" b="-66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00100" y="4171950"/>
            <a:ext cx="685800" cy="685800"/>
            <a:chOff x="0" y="0"/>
            <a:chExt cx="914400" cy="9144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2982" y="4286250"/>
            <a:ext cx="300038" cy="457200"/>
            <a:chOff x="0" y="0"/>
            <a:chExt cx="400050" cy="6096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0100" y="5143500"/>
            <a:ext cx="457200" cy="457200"/>
            <a:chOff x="0" y="0"/>
            <a:chExt cx="609600" cy="6096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8688" y="5257800"/>
            <a:ext cx="200025" cy="228600"/>
            <a:chOff x="0" y="0"/>
            <a:chExt cx="266700" cy="3048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00100" y="6115050"/>
            <a:ext cx="457200" cy="457200"/>
            <a:chOff x="0" y="0"/>
            <a:chExt cx="609600" cy="6096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85825" y="6229350"/>
            <a:ext cx="285750" cy="228600"/>
            <a:chOff x="0" y="0"/>
            <a:chExt cx="381000" cy="3048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0100" y="7086600"/>
            <a:ext cx="457200" cy="457200"/>
            <a:chOff x="0" y="0"/>
            <a:chExt cx="609600" cy="6096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2975" y="7200900"/>
            <a:ext cx="171450" cy="228600"/>
            <a:chOff x="0" y="0"/>
            <a:chExt cx="228600" cy="304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228600" cy="304800"/>
            </a:xfrm>
            <a:custGeom>
              <a:avLst/>
              <a:gdLst/>
              <a:ahLst/>
              <a:cxnLst/>
              <a:rect r="r" b="b" t="t" l="l"/>
              <a:pathLst>
                <a:path h="3048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72600" y="3829050"/>
            <a:ext cx="8458200" cy="4286250"/>
            <a:chOff x="0" y="0"/>
            <a:chExt cx="11277600" cy="57150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12776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666" r="0" b="-66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15500" y="4171950"/>
            <a:ext cx="685800" cy="685800"/>
            <a:chOff x="0" y="0"/>
            <a:chExt cx="914400" cy="914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65520" y="4286250"/>
            <a:ext cx="385762" cy="457200"/>
            <a:chOff x="0" y="0"/>
            <a:chExt cx="514350" cy="6096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14350" cy="609600"/>
            </a:xfrm>
            <a:custGeom>
              <a:avLst/>
              <a:gdLst/>
              <a:ahLst/>
              <a:cxnLst/>
              <a:rect r="r" b="b" t="t" l="l"/>
              <a:pathLst>
                <a:path h="6096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15500" y="5143500"/>
            <a:ext cx="457200" cy="457200"/>
            <a:chOff x="0" y="0"/>
            <a:chExt cx="609600" cy="6096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29800" y="5257800"/>
            <a:ext cx="228600" cy="228600"/>
            <a:chOff x="0" y="0"/>
            <a:chExt cx="304800" cy="3048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15500" y="6115050"/>
            <a:ext cx="457200" cy="457200"/>
            <a:chOff x="0" y="0"/>
            <a:chExt cx="609600" cy="6096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29800" y="6229350"/>
            <a:ext cx="228600" cy="228600"/>
            <a:chOff x="0" y="0"/>
            <a:chExt cx="304800" cy="3048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15500" y="7086600"/>
            <a:ext cx="457200" cy="457200"/>
            <a:chOff x="0" y="0"/>
            <a:chExt cx="609600" cy="6096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01225" y="7200900"/>
            <a:ext cx="285750" cy="228600"/>
            <a:chOff x="0" y="0"/>
            <a:chExt cx="381000" cy="3048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3810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57200" y="8458200"/>
            <a:ext cx="17373600" cy="800100"/>
            <a:chOff x="0" y="0"/>
            <a:chExt cx="23164800" cy="10668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23164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5800" y="8729662"/>
            <a:ext cx="228600" cy="228600"/>
            <a:chOff x="0" y="0"/>
            <a:chExt cx="304800" cy="3048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571500" y="1724025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57200" y="3028950"/>
            <a:ext cx="20848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Expanding the Alzheimer's Disease Risk Prediction System with strategic improvements.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14500" y="4229100"/>
            <a:ext cx="569481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Short-term (3-6 months)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28750" y="5010150"/>
            <a:ext cx="714651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Clinical Trial Validation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28750" y="5410200"/>
            <a:ext cx="71465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Partner with memory clinics for prospective studies.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28750" y="5981700"/>
            <a:ext cx="596833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Multi-Language Support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28750" y="6381750"/>
            <a:ext cx="596833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Translate UI to Arabic, Spanish, and French.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28750" y="6953250"/>
            <a:ext cx="59563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Mobile App Version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28750" y="7353300"/>
            <a:ext cx="714759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Native apps for iOS/Android with offline capabilities.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629900" y="4229100"/>
            <a:ext cx="508965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Long-term (1-2 years)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344150" y="5010150"/>
            <a:ext cx="480327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Multi-Class Staging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344150" y="5410200"/>
            <a:ext cx="480327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Predict severity and MCI detection.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344150" y="5981700"/>
            <a:ext cx="67602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Longitudinal Tracking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344150" y="6381750"/>
            <a:ext cx="676022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Patient history dashboard with change detection.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344150" y="6953250"/>
            <a:ext cx="557971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EHR Integration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344150" y="7353300"/>
            <a:ext cx="669565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HL7 FHIR API compatibility for clinical workflows.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28700" y="8610600"/>
            <a:ext cx="202996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FDA approval pathway: Class II medical device application with clinical validation studies.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67268" y="495320"/>
            <a:ext cx="1926907" cy="956596"/>
            <a:chOff x="0" y="0"/>
            <a:chExt cx="2569210" cy="12754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2538" y="9503616"/>
            <a:ext cx="4124325" cy="583406"/>
            <a:chOff x="0" y="0"/>
            <a:chExt cx="5499100" cy="777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509" y="8509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03418" cy="782193"/>
            </a:xfrm>
            <a:custGeom>
              <a:avLst/>
              <a:gdLst/>
              <a:ahLst/>
              <a:cxnLst/>
              <a:rect r="r" b="b" t="t" l="l"/>
              <a:pathLst>
                <a:path h="782193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773684"/>
                  </a:lnTo>
                  <a:cubicBezTo>
                    <a:pt x="5503418" y="778383"/>
                    <a:pt x="5499608" y="782193"/>
                    <a:pt x="5494909" y="782193"/>
                  </a:cubicBezTo>
                  <a:lnTo>
                    <a:pt x="8509" y="782193"/>
                  </a:lnTo>
                  <a:cubicBezTo>
                    <a:pt x="3810" y="782193"/>
                    <a:pt x="0" y="778383"/>
                    <a:pt x="0" y="773684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73684"/>
                  </a:lnTo>
                  <a:lnTo>
                    <a:pt x="8509" y="773684"/>
                  </a:lnTo>
                  <a:lnTo>
                    <a:pt x="8509" y="765175"/>
                  </a:lnTo>
                  <a:lnTo>
                    <a:pt x="5494909" y="765175"/>
                  </a:lnTo>
                  <a:lnTo>
                    <a:pt x="5494909" y="773684"/>
                  </a:lnTo>
                  <a:lnTo>
                    <a:pt x="5486400" y="773684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9976" y="0"/>
            <a:ext cx="2234661" cy="2079975"/>
            <a:chOff x="0" y="0"/>
            <a:chExt cx="2979548" cy="277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5" r="0" b="-6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6522" y="9511259"/>
            <a:ext cx="708660" cy="657416"/>
            <a:chOff x="0" y="0"/>
            <a:chExt cx="944880" cy="8765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198" cy="880872"/>
            </a:xfrm>
            <a:custGeom>
              <a:avLst/>
              <a:gdLst/>
              <a:ahLst/>
              <a:cxnLst/>
              <a:rect r="r" b="b" t="t" l="l"/>
              <a:pathLst>
                <a:path h="880872" w="949198">
                  <a:moveTo>
                    <a:pt x="8509" y="0"/>
                  </a:moveTo>
                  <a:lnTo>
                    <a:pt x="940689" y="0"/>
                  </a:lnTo>
                  <a:cubicBezTo>
                    <a:pt x="945388" y="0"/>
                    <a:pt x="949198" y="3810"/>
                    <a:pt x="949198" y="8509"/>
                  </a:cubicBezTo>
                  <a:lnTo>
                    <a:pt x="949198" y="872363"/>
                  </a:lnTo>
                  <a:cubicBezTo>
                    <a:pt x="949198" y="877062"/>
                    <a:pt x="945388" y="880872"/>
                    <a:pt x="940689" y="880872"/>
                  </a:cubicBezTo>
                  <a:lnTo>
                    <a:pt x="8509" y="880872"/>
                  </a:lnTo>
                  <a:cubicBezTo>
                    <a:pt x="3810" y="880872"/>
                    <a:pt x="0" y="877062"/>
                    <a:pt x="0" y="87236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2363"/>
                  </a:lnTo>
                  <a:lnTo>
                    <a:pt x="8509" y="872363"/>
                  </a:lnTo>
                  <a:lnTo>
                    <a:pt x="8509" y="863854"/>
                  </a:lnTo>
                  <a:lnTo>
                    <a:pt x="940689" y="863854"/>
                  </a:lnTo>
                  <a:lnTo>
                    <a:pt x="940689" y="872363"/>
                  </a:lnTo>
                  <a:lnTo>
                    <a:pt x="932180" y="872363"/>
                  </a:lnTo>
                  <a:lnTo>
                    <a:pt x="932180" y="8509"/>
                  </a:lnTo>
                  <a:lnTo>
                    <a:pt x="940689" y="8509"/>
                  </a:lnTo>
                  <a:lnTo>
                    <a:pt x="9406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10/14/24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07579" y="9615027"/>
            <a:ext cx="1731441" cy="449875"/>
            <a:chOff x="0" y="0"/>
            <a:chExt cx="2308588" cy="5998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08606" cy="599821"/>
            </a:xfrm>
            <a:custGeom>
              <a:avLst/>
              <a:gdLst/>
              <a:ahLst/>
              <a:cxnLst/>
              <a:rect r="r" b="b" t="t" l="l"/>
              <a:pathLst>
                <a:path h="599821" w="2308606">
                  <a:moveTo>
                    <a:pt x="0" y="0"/>
                  </a:moveTo>
                  <a:lnTo>
                    <a:pt x="2308606" y="0"/>
                  </a:lnTo>
                  <a:lnTo>
                    <a:pt x="2308606" y="599821"/>
                  </a:lnTo>
                  <a:lnTo>
                    <a:pt x="0" y="599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7200" y="2728913"/>
            <a:ext cx="385762" cy="342900"/>
            <a:chOff x="0" y="0"/>
            <a:chExt cx="514350" cy="457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57200" y="3514725"/>
            <a:ext cx="114300" cy="114300"/>
            <a:chOff x="0" y="0"/>
            <a:chExt cx="152400" cy="1524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57200" y="4086225"/>
            <a:ext cx="114300" cy="114300"/>
            <a:chOff x="0" y="0"/>
            <a:chExt cx="152400" cy="1524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57200" y="4657725"/>
            <a:ext cx="114300" cy="114300"/>
            <a:chOff x="0" y="0"/>
            <a:chExt cx="152400" cy="152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7200" y="5229225"/>
            <a:ext cx="114300" cy="114300"/>
            <a:chOff x="0" y="0"/>
            <a:chExt cx="152400" cy="1524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57200" y="5800725"/>
            <a:ext cx="114300" cy="114300"/>
            <a:chOff x="0" y="0"/>
            <a:chExt cx="152400" cy="1524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57200" y="6372225"/>
            <a:ext cx="114300" cy="114300"/>
            <a:chOff x="0" y="0"/>
            <a:chExt cx="152400" cy="1524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57200" y="7029450"/>
            <a:ext cx="257175" cy="285750"/>
            <a:chOff x="0" y="0"/>
            <a:chExt cx="342900" cy="3810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57200" y="7486650"/>
            <a:ext cx="4086225" cy="800100"/>
            <a:chOff x="0" y="0"/>
            <a:chExt cx="5448300" cy="10668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44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28650" y="7658100"/>
            <a:ext cx="328612" cy="457200"/>
            <a:chOff x="0" y="0"/>
            <a:chExt cx="438150" cy="6096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43815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4875" y="7486650"/>
            <a:ext cx="4086225" cy="800100"/>
            <a:chOff x="0" y="0"/>
            <a:chExt cx="5448300" cy="106680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544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886325" y="7658100"/>
            <a:ext cx="342900" cy="457200"/>
            <a:chOff x="0" y="0"/>
            <a:chExt cx="457200" cy="6096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57200" y="8458200"/>
            <a:ext cx="4086225" cy="800100"/>
            <a:chOff x="0" y="0"/>
            <a:chExt cx="5448300" cy="106680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544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28650" y="8629650"/>
            <a:ext cx="257175" cy="457200"/>
            <a:chOff x="0" y="0"/>
            <a:chExt cx="342900" cy="6096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342900" cy="609600"/>
            </a:xfrm>
            <a:custGeom>
              <a:avLst/>
              <a:gdLst/>
              <a:ahLst/>
              <a:cxnLst/>
              <a:rect r="r" b="b" t="t" l="l"/>
              <a:pathLst>
                <a:path h="6096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714875" y="8458200"/>
            <a:ext cx="4086225" cy="800100"/>
            <a:chOff x="0" y="0"/>
            <a:chExt cx="5448300" cy="106680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5448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886325" y="8629650"/>
            <a:ext cx="300038" cy="457200"/>
            <a:chOff x="0" y="0"/>
            <a:chExt cx="400050" cy="6096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400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486900" y="2728913"/>
            <a:ext cx="428625" cy="342900"/>
            <a:chOff x="0" y="0"/>
            <a:chExt cx="571500" cy="457200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86900" y="3371850"/>
            <a:ext cx="4057650" cy="1828800"/>
            <a:chOff x="0" y="0"/>
            <a:chExt cx="5410200" cy="243840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5410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15500" y="3600450"/>
            <a:ext cx="571500" cy="571500"/>
            <a:chOff x="0" y="0"/>
            <a:chExt cx="762000" cy="76200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901238" y="3771900"/>
            <a:ext cx="200025" cy="228600"/>
            <a:chOff x="0" y="0"/>
            <a:chExt cx="266700" cy="3048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715500" y="4672013"/>
            <a:ext cx="228600" cy="228600"/>
            <a:chOff x="0" y="0"/>
            <a:chExt cx="304800" cy="30480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773150" y="3371850"/>
            <a:ext cx="4057650" cy="1828800"/>
            <a:chOff x="0" y="0"/>
            <a:chExt cx="5410200" cy="24384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5410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001750" y="3600450"/>
            <a:ext cx="571500" cy="571500"/>
            <a:chOff x="0" y="0"/>
            <a:chExt cx="762000" cy="7620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187488" y="3771900"/>
            <a:ext cx="200025" cy="228600"/>
            <a:chOff x="0" y="0"/>
            <a:chExt cx="266700" cy="30480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486900" y="5429250"/>
            <a:ext cx="4057650" cy="1485900"/>
            <a:chOff x="0" y="0"/>
            <a:chExt cx="5410200" cy="198120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5410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1981200"/>
                  </a:lnTo>
                  <a:lnTo>
                    <a:pt x="0" y="198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715500" y="5657850"/>
            <a:ext cx="571500" cy="571500"/>
            <a:chOff x="0" y="0"/>
            <a:chExt cx="762000" cy="76200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901238" y="5829300"/>
            <a:ext cx="200025" cy="228600"/>
            <a:chOff x="0" y="0"/>
            <a:chExt cx="266700" cy="30480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773150" y="5429250"/>
            <a:ext cx="4057650" cy="1485900"/>
            <a:chOff x="0" y="0"/>
            <a:chExt cx="5410200" cy="198120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5410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1981200"/>
                  </a:lnTo>
                  <a:lnTo>
                    <a:pt x="0" y="198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001750" y="5657850"/>
            <a:ext cx="571500" cy="571500"/>
            <a:chOff x="0" y="0"/>
            <a:chExt cx="762000" cy="762000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187488" y="5829300"/>
            <a:ext cx="200025" cy="228600"/>
            <a:chOff x="0" y="0"/>
            <a:chExt cx="266700" cy="304800"/>
          </a:xfrm>
        </p:grpSpPr>
        <p:sp>
          <p:nvSpPr>
            <p:cNvPr name="Freeform 81" id="81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457200" y="1792758"/>
            <a:ext cx="171450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4050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Thank You &amp; Q&amp;A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57262" y="2628900"/>
            <a:ext cx="100126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Project Achievements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42950" y="3295650"/>
            <a:ext cx="66238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97.31% ROC-AUC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(Exceeded 95% target)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42950" y="3867150"/>
            <a:ext cx="662466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15803D"/>
                </a:solidFill>
                <a:latin typeface="Arimo Bold"/>
                <a:ea typeface="Arimo Bold"/>
                <a:cs typeface="Arimo Bold"/>
                <a:sym typeface="Arimo Bold"/>
              </a:rPr>
              <a:t>94.75% Accuracy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(Exceeded 90% target)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42950" y="4438650"/>
            <a:ext cx="666645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7E22CE"/>
                </a:solidFill>
                <a:latin typeface="Arimo Bold"/>
                <a:ea typeface="Arimo Bold"/>
                <a:cs typeface="Arimo Bold"/>
                <a:sym typeface="Arimo Bold"/>
              </a:rPr>
              <a:t>Production web app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with 6 core features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42950" y="5010150"/>
            <a:ext cx="633856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B91C1C"/>
                </a:solidFill>
                <a:latin typeface="Arimo Bold"/>
                <a:ea typeface="Arimo Bold"/>
                <a:cs typeface="Arimo Bold"/>
                <a:sym typeface="Arimo Bold"/>
              </a:rPr>
              <a:t>Explainable AI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with SHAP visualizations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42950" y="5581650"/>
            <a:ext cx="643901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A16207"/>
                </a:solidFill>
                <a:latin typeface="Arimo Bold"/>
                <a:ea typeface="Arimo Bold"/>
                <a:cs typeface="Arimo Bold"/>
                <a:sym typeface="Arimo Bold"/>
              </a:rPr>
              <a:t>99.7% cost reduction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($1,500 → $3.50)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742950" y="6153150"/>
            <a:ext cx="79574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025" b="true">
                <a:solidFill>
                  <a:srgbClr val="0F766E"/>
                </a:solidFill>
                <a:latin typeface="Arimo Bold"/>
                <a:ea typeface="Arimo Bold"/>
                <a:cs typeface="Arimo Bold"/>
                <a:sym typeface="Arimo Bold"/>
              </a:rPr>
              <a:t>99.99% time reduction</a:t>
            </a:r>
            <a:r>
              <a:rPr lang="en-US" sz="2025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 (6 months → 15 seconds)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28675" y="6915150"/>
            <a:ext cx="83439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Repository &amp; Resources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28712" y="7639050"/>
            <a:ext cx="33462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GitHub: Full source code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400675" y="7639050"/>
            <a:ext cx="146241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Live Demo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57275" y="8610600"/>
            <a:ext cx="193524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Project Report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357812" y="8610600"/>
            <a:ext cx="212249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Research Paper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029825" y="2628900"/>
            <a:ext cx="100126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70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 Team Contact Information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458450" y="3629025"/>
            <a:ext cx="23705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Shady Kishk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715500" y="4210050"/>
            <a:ext cx="3600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Team Leader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058400" y="4552950"/>
            <a:ext cx="43205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shadykishk77@gmail.com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4744700" y="3629025"/>
            <a:ext cx="217661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Mostafa Ali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001750" y="4210050"/>
            <a:ext cx="43205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Data Scientist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458450" y="5686425"/>
            <a:ext cx="252995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Kiroles Emad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715500" y="6267450"/>
            <a:ext cx="3600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ML Engineer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744700" y="5686425"/>
            <a:ext cx="31664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Mohamed Sherif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4001750" y="6267450"/>
            <a:ext cx="43205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Validation Lead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486900" y="7029450"/>
            <a:ext cx="4057650" cy="1485900"/>
            <a:chOff x="0" y="0"/>
            <a:chExt cx="5410200" cy="1981200"/>
          </a:xfrm>
        </p:grpSpPr>
        <p:sp>
          <p:nvSpPr>
            <p:cNvPr name="Freeform 106" id="106" descr="preencoded.png"/>
            <p:cNvSpPr/>
            <p:nvPr/>
          </p:nvSpPr>
          <p:spPr>
            <a:xfrm flipH="false" flipV="false" rot="0">
              <a:off x="0" y="0"/>
              <a:ext cx="5410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1981200"/>
                  </a:lnTo>
                  <a:lnTo>
                    <a:pt x="0" y="198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715500" y="7258050"/>
            <a:ext cx="571500" cy="571500"/>
            <a:chOff x="0" y="0"/>
            <a:chExt cx="762000" cy="762000"/>
          </a:xfrm>
        </p:grpSpPr>
        <p:sp>
          <p:nvSpPr>
            <p:cNvPr name="Freeform 108" id="108" descr="preencoded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901238" y="7429500"/>
            <a:ext cx="200025" cy="228600"/>
            <a:chOff x="0" y="0"/>
            <a:chExt cx="266700" cy="304800"/>
          </a:xfrm>
        </p:grpSpPr>
        <p:sp>
          <p:nvSpPr>
            <p:cNvPr name="Freeform 110" id="110" descr="preencoded.png"/>
            <p:cNvSpPr/>
            <p:nvPr/>
          </p:nvSpPr>
          <p:spPr>
            <a:xfrm flipH="false" flipV="false" rot="0">
              <a:off x="0" y="0"/>
              <a:ext cx="266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10458450" y="7286625"/>
            <a:ext cx="316646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74151"/>
                </a:solidFill>
                <a:latin typeface="Arimo Bold"/>
                <a:ea typeface="Arimo Bold"/>
                <a:cs typeface="Arimo Bold"/>
                <a:sym typeface="Arimo Bold"/>
              </a:rPr>
              <a:t>Amr Ahmed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715500" y="7867650"/>
            <a:ext cx="432054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Deployment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DAG6Naev44k</dc:identifier>
  <dcterms:modified xsi:type="dcterms:W3CDTF">2011-08-01T06:04:30Z</dcterms:modified>
  <cp:revision>1</cp:revision>
  <dc:title>Exploratory Data Analysis</dc:title>
</cp:coreProperties>
</file>